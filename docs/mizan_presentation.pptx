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1A732A-28FE-4095-AC6D-D1CC636D32B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B9BD9D-1553-4136-857F-23576E7D9E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47802-8984-4D4C-B280-5B28D4EA31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0642AC-2328-44F3-BA53-0B46D8131E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8A1DC-4247-4212-B527-6565811C66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B28572-F658-4B82-A4B4-BDEA33B61F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2D7670-45AB-43A5-80F9-FCE3E91D9C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YOUR_USERNAME/mizan" TargetMode="External"/><Relationship Id="rId2" Type="http://schemas.openxmlformats.org/officeDocument/2006/relationships/hyperlink" Target="https://github.com/mrhj26ali/Miza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457200" y="1188720"/>
            <a:ext cx="8229240" cy="36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132588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58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مِيزَان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57200" y="2487240"/>
            <a:ext cx="8229240" cy="36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25786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500" b="0" i="1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لغة برمجة صناعية عربية — من المصدر إلى الحديد بلا مُفسِّر وسيط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309060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DSL</a:t>
            </a: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 عربية كاملة لأنظمة التحكم الصناعي · تُنتج ملفاً تنفيذياً أصلياً عبر </a:t>
            </a: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LLVM</a:t>
            </a: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 · متصلة بـ </a:t>
            </a: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Modbus</a:t>
            </a: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MQTT</a:t>
            </a:r>
            <a:r>
              <a:rPr lang="en-US" sz="1050" b="0" u="none" strike="noStrike">
                <a:solidFill>
                  <a:srgbClr val="7a90b8"/>
                </a:solidFill>
                <a:effectLst/>
                <a:uFillTx/>
                <a:latin typeface="Arial"/>
                <a:ea typeface="Arial"/>
              </a:rPr>
              <a:t> على العتاد الحقيقي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449892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112244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449892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100" b="0" u="none" strike="noStrike">
                <a:solidFill>
                  <a:srgbClr val="e8c96a"/>
                </a:solidFill>
                <a:effectLst/>
                <a:uFillTx/>
                <a:latin typeface="Arial"/>
                <a:cs typeface="Arial"/>
              </a:rPr>
              <a:t>اعداد : علي مرهج و محمد شحود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320040" y="137160"/>
            <a:ext cx="8503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2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فكرة المشروع · المراجع · التطويرات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320040" y="594360"/>
            <a:ext cx="8503560" cy="2700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320040" y="694800"/>
            <a:ext cx="4205880" cy="1591200"/>
          </a:xfrm>
          <a:prstGeom prst="roundRect">
            <a:avLst>
              <a:gd name="adj" fmla="val 3810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11480" y="74052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المشكلة التي يحلّها ميزان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411480" y="1024200"/>
            <a:ext cx="402300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لا يوجد حتى الآن نموذج برمجي عربي لأنظمة الأتمتة الصناعية. يضطر مهندسو 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SCADA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PLC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في المنطقة العربية إلى العمل بلغات برمجة أجنبية كـ 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IEC 61131-3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Structured Text</a:t>
            </a:r>
            <a:r>
              <a:rPr lang="hi-IN" sz="9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، مما يُفضي إلى حاجز معرفي وتشغيلي كبير. جاء ميزان ليُزيل هذا الحاجز بتقديم لغة 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DSL</a:t>
            </a:r>
            <a:r>
              <a:rPr lang="en-US" sz="9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عربية كاملة تُنتج ملفات تنفيذية أصلية دون مُفسِّر وسيط.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228600" y="2743200"/>
            <a:ext cx="4343400" cy="1828800"/>
          </a:xfrm>
          <a:prstGeom prst="roundRect">
            <a:avLst>
              <a:gd name="adj" fmla="val 2985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411480" y="273420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المعايير الدولية المُعتمَدة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411480" y="3017520"/>
            <a:ext cx="402300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IEC 61131-3</a:t>
            </a: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المعيار الدولي للغات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PLC (Ladder Logic, ST)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يستوحي ميزان منه نموذج الوضع-القاعدة-الإجراء.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IEC 61499</a:t>
            </a: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معيار الكتل الوظيفية للتحكم الموزَّع. مَثَل نموذج انتقالات الحالة (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FSM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 في ميزان.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ISO 80000</a:t>
            </a: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نظام الكميات الدولي. يرتبط نظام الأنواع والوحدات في ميزان بالتحليل الأبعادي لـ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ISO 80000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ISA-18.2</a:t>
            </a: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معيار إدارة التنبيهات الصناعية. يُطبّقه نظام التصعيد متعدد المستويات في ميزان.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709160" y="694800"/>
            <a:ext cx="4206240" cy="4443480"/>
          </a:xfrm>
          <a:prstGeom prst="roundRect">
            <a:avLst>
              <a:gd name="adj" fmla="val 1739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709160" y="740520"/>
            <a:ext cx="4023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التطويرات العلمية وأهميتها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4709160" y="1069920"/>
            <a:ext cx="4023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نظام الأنواع الأبعادي للوحدات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709160" y="129852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يمنع العمليات غير المنطقية فيزيائياً (كجمع الضغط مع الحرارة) في مرحلة الترجمة. يستند إلى ذرّات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ISO 80000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فوارق الوحدات تُولِّد خطأ دلالياً قبل توليد أي ملف تنفيذي.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4709160" y="1984320"/>
            <a:ext cx="384012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4709160" y="2103120"/>
            <a:ext cx="4023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الشروط الزمنية وشروط التصويت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4709160" y="233172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عند_استمرار: تضمن أن الشرط صحيح لمدة محددة قبل التنفيذ، مما يمنع اضطرابات المشغلات من الضوضاء. تصويت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من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: يُضيف إجماع التكرار المطلوب في منشآت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IEC 61511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4709160" y="3017520"/>
            <a:ext cx="384012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4709160" y="3136320"/>
            <a:ext cx="4023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مراقبة صحة الحساسات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4709160" y="336492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أوضاع الأعطال (انقطاع، قيمة ثابتة، خروج عن النطاق) تُعلَن مباشرةً على الحساس. يُولِّد المُجمِّع حرّاس وقت التشغيل التي تُطلق انتقالات الوضع الآمن تلقائياً.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4709160" y="4050720"/>
            <a:ext cx="384012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4709160" y="4169520"/>
            <a:ext cx="4023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تقارير الصيانة التنبؤية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4709160" y="4398120"/>
            <a:ext cx="40230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تقارير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JSON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مجدوَلة (يومي/أسبوعي/شهري) تُنشَر عبر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MQTT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وتزوّد المشغلين ببيانات التشغيل وعدد الدورات — الطبقة المطلوبة للصيانة الشرطية (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CBM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 وفق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ISO 13381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320040" y="10980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2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معمارية المُجمِّع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320040" y="521280"/>
            <a:ext cx="8503560" cy="2700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1526760" y="905040"/>
            <a:ext cx="252360" cy="360"/>
          </a:xfrm>
          <a:prstGeom prst="line">
            <a:avLst/>
          </a:prstGeom>
          <a:ln w="254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1770120" y="841320"/>
            <a:ext cx="118440" cy="127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320040" y="621720"/>
            <a:ext cx="1206720" cy="566640"/>
          </a:xfrm>
          <a:prstGeom prst="roundRect">
            <a:avLst>
              <a:gd name="adj" fmla="val 11290"/>
            </a:avLst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320040" y="62172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900" b="1" u="none" strike="noStrike">
                <a:solidFill>
                  <a:srgbClr val="0a1931"/>
                </a:solidFill>
                <a:effectLst/>
                <a:uFillTx/>
                <a:latin typeface="Arial"/>
                <a:cs typeface="Arial"/>
              </a:rPr>
              <a:t>كود ميزان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a1931"/>
                </a:solidFill>
                <a:effectLst/>
                <a:uFillTx/>
                <a:latin typeface="Arial"/>
                <a:ea typeface="Arial"/>
              </a:rPr>
              <a:t>.mizan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2986200" y="905040"/>
            <a:ext cx="252360" cy="360"/>
          </a:xfrm>
          <a:prstGeom prst="line">
            <a:avLst/>
          </a:prstGeom>
          <a:ln w="254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3229560" y="841320"/>
            <a:ext cx="118440" cy="127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1779480" y="621720"/>
            <a:ext cx="1206720" cy="566640"/>
          </a:xfrm>
          <a:prstGeom prst="roundRect">
            <a:avLst>
              <a:gd name="adj" fmla="val 11290"/>
            </a:avLst>
          </a:prstGeom>
          <a:solidFill>
            <a:srgbClr val="1a3a6b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1779480" y="62172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ANTLR4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Parser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4445640" y="905040"/>
            <a:ext cx="252360" cy="360"/>
          </a:xfrm>
          <a:prstGeom prst="line">
            <a:avLst/>
          </a:prstGeom>
          <a:ln w="254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4689000" y="841320"/>
            <a:ext cx="118440" cy="127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2"/>
          <p:cNvSpPr/>
          <p:nvPr/>
        </p:nvSpPr>
        <p:spPr>
          <a:xfrm>
            <a:off x="3238920" y="621720"/>
            <a:ext cx="1206720" cy="566640"/>
          </a:xfrm>
          <a:prstGeom prst="roundRect">
            <a:avLst>
              <a:gd name="adj" fmla="val 11290"/>
            </a:avLst>
          </a:prstGeom>
          <a:solidFill>
            <a:srgbClr val="1a3a6b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3238920" y="62172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AST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Builder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5905080" y="905040"/>
            <a:ext cx="252360" cy="360"/>
          </a:xfrm>
          <a:prstGeom prst="line">
            <a:avLst/>
          </a:prstGeom>
          <a:ln w="254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6148440" y="841320"/>
            <a:ext cx="118440" cy="127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4698360" y="621720"/>
            <a:ext cx="1206720" cy="566640"/>
          </a:xfrm>
          <a:prstGeom prst="roundRect">
            <a:avLst>
              <a:gd name="adj" fmla="val 11290"/>
            </a:avLst>
          </a:prstGeom>
          <a:solidFill>
            <a:srgbClr val="1a3a6b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4698360" y="62172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Semantic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Analyzer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8"/>
          <p:cNvSpPr/>
          <p:nvPr/>
        </p:nvSpPr>
        <p:spPr>
          <a:xfrm>
            <a:off x="7364520" y="905040"/>
            <a:ext cx="252360" cy="360"/>
          </a:xfrm>
          <a:prstGeom prst="line">
            <a:avLst/>
          </a:prstGeom>
          <a:ln w="254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9"/>
          <p:cNvSpPr/>
          <p:nvPr/>
        </p:nvSpPr>
        <p:spPr>
          <a:xfrm>
            <a:off x="7607880" y="841320"/>
            <a:ext cx="118440" cy="127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0"/>
          <p:cNvSpPr/>
          <p:nvPr/>
        </p:nvSpPr>
        <p:spPr>
          <a:xfrm>
            <a:off x="6157440" y="621720"/>
            <a:ext cx="1206720" cy="566640"/>
          </a:xfrm>
          <a:prstGeom prst="roundRect">
            <a:avLst>
              <a:gd name="adj" fmla="val 11290"/>
            </a:avLst>
          </a:prstGeom>
          <a:solidFill>
            <a:srgbClr val="1a3a6b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6157440" y="62172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LLVM IR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Generator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2"/>
          <p:cNvSpPr/>
          <p:nvPr/>
        </p:nvSpPr>
        <p:spPr>
          <a:xfrm>
            <a:off x="7616880" y="621720"/>
            <a:ext cx="1206720" cy="566640"/>
          </a:xfrm>
          <a:prstGeom prst="roundRect">
            <a:avLst>
              <a:gd name="adj" fmla="val 11290"/>
            </a:avLst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7616880" y="62172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a1931"/>
                </a:solidFill>
                <a:effectLst/>
                <a:uFillTx/>
                <a:latin typeface="Arial"/>
                <a:ea typeface="Arial"/>
              </a:rPr>
              <a:t>ELF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0a1931"/>
                </a:solidFill>
                <a:effectLst/>
                <a:uFillTx/>
                <a:latin typeface="Arial"/>
                <a:ea typeface="Arial"/>
              </a:rPr>
              <a:t>Binary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4"/>
          <p:cNvSpPr/>
          <p:nvPr/>
        </p:nvSpPr>
        <p:spPr>
          <a:xfrm>
            <a:off x="320040" y="1298520"/>
            <a:ext cx="2678760" cy="3638880"/>
          </a:xfrm>
          <a:prstGeom prst="roundRect">
            <a:avLst>
              <a:gd name="adj" fmla="val 3072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411480" y="1389960"/>
            <a:ext cx="249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Frontend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6"/>
          <p:cNvSpPr/>
          <p:nvPr/>
        </p:nvSpPr>
        <p:spPr>
          <a:xfrm>
            <a:off x="457200" y="1700640"/>
            <a:ext cx="2404440" cy="1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411480" y="179208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Mizan.g4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قواعد نحوية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ANTLR4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تُعرِّف بنية لغة ميزان بالكامل: الأوضاع، الحساسات، المشغّلات، القواعد، والإجراءات.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8"/>
          <p:cNvSpPr/>
          <p:nvPr/>
        </p:nvSpPr>
        <p:spPr>
          <a:xfrm>
            <a:off x="502920" y="247356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9"/>
          <p:cNvSpPr/>
          <p:nvPr/>
        </p:nvSpPr>
        <p:spPr>
          <a:xfrm>
            <a:off x="411480" y="256500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ArabicErrorListener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يُعيد رسائل الخطأ النحوي باللغة العربية مع رقم السطر والعمود.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0"/>
          <p:cNvSpPr/>
          <p:nvPr/>
        </p:nvSpPr>
        <p:spPr>
          <a:xfrm>
            <a:off x="502920" y="324612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411480" y="333756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normalize_mizan_code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يُزيل التشكيل، يُوحِّد صيغ الهمزة، ويُحوِّل بيانات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Unicode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التقديمية إلى أشكالها الأصلية قبل الإدخال إلى المُحلِّل.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2"/>
          <p:cNvSpPr/>
          <p:nvPr/>
        </p:nvSpPr>
        <p:spPr>
          <a:xfrm>
            <a:off x="502920" y="401868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3"/>
          <p:cNvSpPr/>
          <p:nvPr/>
        </p:nvSpPr>
        <p:spPr>
          <a:xfrm>
            <a:off x="411480" y="411012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ASTBuilder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يُحوِّل شجرة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ANTLR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إلى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40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+ نوعاً من عقد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AST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الخاصة بميزان (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SensorDeclNode, ModeBlockNode, RuleBlockNode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…).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4"/>
          <p:cNvSpPr/>
          <p:nvPr/>
        </p:nvSpPr>
        <p:spPr>
          <a:xfrm>
            <a:off x="3141000" y="1298520"/>
            <a:ext cx="2678760" cy="3638880"/>
          </a:xfrm>
          <a:prstGeom prst="roundRect">
            <a:avLst>
              <a:gd name="adj" fmla="val 3072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5"/>
          <p:cNvSpPr/>
          <p:nvPr/>
        </p:nvSpPr>
        <p:spPr>
          <a:xfrm>
            <a:off x="3232440" y="1389960"/>
            <a:ext cx="249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Semantic Layer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6"/>
          <p:cNvSpPr/>
          <p:nvPr/>
        </p:nvSpPr>
        <p:spPr>
          <a:xfrm>
            <a:off x="3278160" y="1700640"/>
            <a:ext cx="2404440" cy="1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7"/>
          <p:cNvSpPr/>
          <p:nvPr/>
        </p:nvSpPr>
        <p:spPr>
          <a:xfrm>
            <a:off x="3232440" y="179208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Type System + Unit Checker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يتتبع الأبعاد الفيزيائية (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Pa, °C, m/s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 عبر طبقة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UnitType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مبنية على ذرّات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ISO 80000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أي عملية غير متوافقة تُوقف التجميع.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8"/>
          <p:cNvSpPr/>
          <p:nvPr/>
        </p:nvSpPr>
        <p:spPr>
          <a:xfrm>
            <a:off x="3323880" y="247356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9"/>
          <p:cNvSpPr/>
          <p:nvPr/>
        </p:nvSpPr>
        <p:spPr>
          <a:xfrm>
            <a:off x="3232440" y="256500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Symbol Table + Scoping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Environment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متداخلة تضمن عدم تضارب أسماء المتغيرات والحساسات والإجراءات عبر الأوضاع المختلفة.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40"/>
          <p:cNvSpPr/>
          <p:nvPr/>
        </p:nvSpPr>
        <p:spPr>
          <a:xfrm>
            <a:off x="3323880" y="324612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1"/>
          <p:cNvSpPr/>
          <p:nvPr/>
        </p:nvSpPr>
        <p:spPr>
          <a:xfrm>
            <a:off x="3232440" y="333756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ISA-18.2 Validator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يتحقق من صحة مستويات التنبيه (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-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3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)، وسلاسل التصعيد، وقواعد صحة الحساسات قبل توليد أي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2"/>
          <p:cNvSpPr/>
          <p:nvPr/>
        </p:nvSpPr>
        <p:spPr>
          <a:xfrm>
            <a:off x="3323880" y="401868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3"/>
          <p:cNvSpPr/>
          <p:nvPr/>
        </p:nvSpPr>
        <p:spPr>
          <a:xfrm>
            <a:off x="3232440" y="411012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FSM Transition Checker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يُنفِّذ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DFS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على جدول الانتقالات للكشف عن أوضاع غير قابلة للوصول أو حلقات انتقال لا نهائية.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4"/>
          <p:cNvSpPr/>
          <p:nvPr/>
        </p:nvSpPr>
        <p:spPr>
          <a:xfrm>
            <a:off x="5961960" y="1298520"/>
            <a:ext cx="2678760" cy="3638880"/>
          </a:xfrm>
          <a:prstGeom prst="roundRect">
            <a:avLst>
              <a:gd name="adj" fmla="val 3072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5"/>
          <p:cNvSpPr/>
          <p:nvPr/>
        </p:nvSpPr>
        <p:spPr>
          <a:xfrm>
            <a:off x="6053400" y="1389960"/>
            <a:ext cx="249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Backend + Runtime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6"/>
          <p:cNvSpPr/>
          <p:nvPr/>
        </p:nvSpPr>
        <p:spPr>
          <a:xfrm>
            <a:off x="6099120" y="1700640"/>
            <a:ext cx="2404440" cy="1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7"/>
          <p:cNvSpPr/>
          <p:nvPr/>
        </p:nvSpPr>
        <p:spPr>
          <a:xfrm>
            <a:off x="6053400" y="179208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LLVM IR via llvmlite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يُولِّد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مع فحوصات حدود المصفوفات والقسمة على صفر. يُحسِّنه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PassManager (O2)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ثم يُصدره كـ .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يُربط بـ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clang/gcc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8"/>
          <p:cNvSpPr/>
          <p:nvPr/>
        </p:nvSpPr>
        <p:spPr>
          <a:xfrm>
            <a:off x="6144840" y="247356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9"/>
          <p:cNvSpPr/>
          <p:nvPr/>
        </p:nvSpPr>
        <p:spPr>
          <a:xfrm>
            <a:off x="6053400" y="256500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Modbus TCP (C runtime)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runtime.c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يستخدم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libmodbus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لقراءة السجلات وكتابتها على عناوين الحساسات والمشغّلات المُعرَّفة في الكود. يعمل فورياً مع أي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PLC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0"/>
          <p:cNvSpPr/>
          <p:nvPr/>
        </p:nvSpPr>
        <p:spPr>
          <a:xfrm>
            <a:off x="6144840" y="324612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1"/>
          <p:cNvSpPr/>
          <p:nvPr/>
        </p:nvSpPr>
        <p:spPr>
          <a:xfrm>
            <a:off x="6053400" y="333756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MQTT bridge + JSON reports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كل تنبيه وتصعيد يُنشر على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mizan/alerts/{level}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التقارير الدورية تُكتب بصيغة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JSON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ويُرسَل إشعار عبر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MQTT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لأنظمة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SCADA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2"/>
          <p:cNvSpPr/>
          <p:nvPr/>
        </p:nvSpPr>
        <p:spPr>
          <a:xfrm>
            <a:off x="6144840" y="4018680"/>
            <a:ext cx="2313000" cy="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3"/>
          <p:cNvSpPr/>
          <p:nvPr/>
        </p:nvSpPr>
        <p:spPr>
          <a:xfrm>
            <a:off x="6053400" y="4110120"/>
            <a:ext cx="249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e8c96a"/>
                </a:solidFill>
                <a:effectLst/>
                <a:uFillTx/>
                <a:latin typeface="Arial"/>
                <a:ea typeface="Arial"/>
              </a:rPr>
              <a:t>ring buffers + health guards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بنية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ring buffer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لكل حساس تحسب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avg/max/min/rate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على نوافذ زمنية. حرّاس الصحة تُولِّد انتقالات الوضع الآمن عند كشف عطل.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320040" y="10980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2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مثال برمجي حي — من كود ميزان إلى التنفيذ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"/>
          <p:cNvSpPr/>
          <p:nvPr/>
        </p:nvSpPr>
        <p:spPr>
          <a:xfrm>
            <a:off x="320040" y="521280"/>
            <a:ext cx="8503560" cy="2700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320040" y="621720"/>
            <a:ext cx="4571640" cy="4352040"/>
          </a:xfrm>
          <a:prstGeom prst="roundRect">
            <a:avLst>
              <a:gd name="adj" fmla="val 1681"/>
            </a:avLst>
          </a:prstGeom>
          <a:solidFill>
            <a:srgbClr val="0d1f3c"/>
          </a:solidFill>
          <a:ln w="12700">
            <a:solidFill>
              <a:srgbClr val="1a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411480" y="65844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02_safety_and_health.mizan — </a:t>
            </a:r>
            <a:r>
              <a:rPr lang="hi-IN" sz="85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مراقبة المحرك الحراري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411480" y="896040"/>
            <a:ext cx="4388760" cy="40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/>
            <a:r>
              <a:rPr lang="hi-IN" sz="820" b="1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برنامج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مراقبة_المحرك_الحراري؛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hi-IN" sz="820" b="1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جهاز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وحدة_التحكم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بروتوكول: </a:t>
            </a:r>
            <a:r>
              <a:rPr lang="en-US" sz="820" b="0" u="none" strike="noStrike">
                <a:solidFill>
                  <a:srgbClr val="90ee90"/>
                </a:solidFill>
                <a:effectLst/>
                <a:uFillTx/>
                <a:latin typeface="Courier New"/>
                <a:ea typeface="Courier New"/>
              </a:rPr>
              <a:t>"</a:t>
            </a:r>
            <a:r>
              <a:rPr lang="en-US" sz="820" b="0" u="none" strike="noStrike">
                <a:solidFill>
                  <a:srgbClr val="90ee90"/>
                </a:solidFill>
                <a:effectLst/>
                <a:uFillTx/>
                <a:latin typeface="Courier New"/>
                <a:ea typeface="Courier New"/>
              </a:rPr>
              <a:t>modbus_tcp</a:t>
            </a:r>
            <a:r>
              <a:rPr lang="en-US" sz="820" b="0" u="none" strike="noStrike">
                <a:solidFill>
                  <a:srgbClr val="90ee90"/>
                </a:solidFill>
                <a:effectLst/>
                <a:uFillTx/>
                <a:latin typeface="Courier New"/>
                <a:ea typeface="Courier New"/>
              </a:rPr>
              <a:t>"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, منفذ: </a:t>
            </a: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5020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, دورة_مسح: </a:t>
            </a: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 ثانية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hi-IN" sz="820" b="1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حساس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حرارة_المحرك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نوع: </a:t>
            </a:r>
            <a:r>
              <a:rPr lang="hi-IN" sz="820" b="0" u="none" strike="noStrike">
                <a:solidFill>
                  <a:srgbClr val="90ee90"/>
                </a:solidFill>
                <a:effectLst/>
                <a:uFillTx/>
                <a:latin typeface="Courier New"/>
                <a:cs typeface="Courier New"/>
              </a:rPr>
              <a:t>سيلزيوس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, نطاق: [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..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150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], عنوان: 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0x0008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,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صحة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    عند_انقطاع_الاتصال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  تنبيه مستوى_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90ee90"/>
                </a:solidFill>
                <a:effectLst/>
                <a:uFillTx/>
                <a:latin typeface="Courier New"/>
                <a:ea typeface="Courier New"/>
              </a:rPr>
              <a:t>"فقدان الاتصال بحساس الحرارة!"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  قيمة_افتراضية: 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25.0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},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    عند_قيمة_ثابتة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(مدة: 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ثانية)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  تنبيه مستوى_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90ee90"/>
                </a:solidFill>
                <a:effectLst/>
                <a:uFillTx/>
                <a:latin typeface="Courier New"/>
                <a:ea typeface="Courier New"/>
              </a:rPr>
              <a:t>"قراءة ثابتة — ربما عطل!"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},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عند_خروج_عن_النطاق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{ تنبيه مستوى_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820" b="0" u="none" strike="noStrike">
                <a:solidFill>
                  <a:srgbClr val="90ee90"/>
                </a:solidFill>
                <a:effectLst/>
                <a:uFillTx/>
                <a:latin typeface="Courier New"/>
                <a:ea typeface="Courier New"/>
              </a:rPr>
              <a:t>"خارج النطاق الآمن!"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; }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20" b="1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مشغل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مروحة_التبريد { نوع: منطقي, عنوان: 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0x0020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};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20" b="1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وضع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مراقبة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20" b="0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قاعدة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استمرار_الحرارة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20" b="0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اذا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hi-IN" sz="820" b="0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عند_استمرار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(حرارة_المحرك &gt; </a:t>
            </a: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90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لمدة: </a:t>
            </a: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820" b="0" u="none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</a:rPr>
              <a:t> ثانية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))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20" b="0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امر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مروحة_التبريد: تشغيل;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  سجل 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90ee90"/>
                </a:solidFill>
                <a:effectLst/>
                <a:uFillTx/>
                <a:latin typeface="Courier New"/>
                <a:ea typeface="Courier New"/>
              </a:rPr>
              <a:t>"الحرارة مرتفعة. تشغيل المروحة."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} والا {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20" b="0" u="none" strike="noStrike">
                <a:solidFill>
                  <a:srgbClr val="e8c96a"/>
                </a:solidFill>
                <a:effectLst/>
                <a:uFillTx/>
                <a:latin typeface="Courier New"/>
                <a:cs typeface="Courier New"/>
              </a:rPr>
              <a:t>امر</a:t>
            </a:r>
            <a:r>
              <a:rPr lang="en-US" sz="820" b="0" u="none" strike="noStrike">
                <a:solidFill>
                  <a:srgbClr val="e8ecf4"/>
                </a:solidFill>
                <a:effectLst/>
                <a:uFillTx/>
                <a:latin typeface="Courier New"/>
                <a:ea typeface="Courier New"/>
              </a:rPr>
              <a:t> مروحة_التبريد: ايقاف;} }}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4983480" y="621720"/>
            <a:ext cx="3840120" cy="1032840"/>
          </a:xfrm>
          <a:prstGeom prst="roundRect">
            <a:avLst>
              <a:gd name="adj" fmla="val 6195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5074920" y="68580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5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١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  تعريف الجهاز → 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Modbus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5074920" y="923400"/>
            <a:ext cx="36572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كلمة جهاز تُنشئ اتصال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Modbus TCP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حقيقياً. المُجمِّع يُولِّد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mizan_modbus_connect("127.0.0.1", 5020)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في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LLVM IR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دورة المسح (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ثانية) تُترجَم إلى حلقة رئيسية مع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mizan_sleep_ms(1000)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4983480" y="1712520"/>
            <a:ext cx="3840120" cy="1032840"/>
          </a:xfrm>
          <a:prstGeom prst="roundRect">
            <a:avLst>
              <a:gd name="adj" fmla="val 6195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5074920" y="177660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5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٢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  صحة الحساس ← 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ISA-18.2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5074920" y="2014560"/>
            <a:ext cx="36572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ثلاث قواعد صحة تُولِّد كوداً في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runtime.c: mizan_modbus_is_connected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() للانقطاع،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mizan_health_track_stuck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() للقيم الثابتة،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mizan_health_out_of_range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() لخروج النطاق. كل قاعدة تُطلق تنبيه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ISA-18.2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بالمستوى الصحيح.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4983480" y="2803680"/>
            <a:ext cx="3840120" cy="1032840"/>
          </a:xfrm>
          <a:prstGeom prst="roundRect">
            <a:avLst>
              <a:gd name="adj" fmla="val 6195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5074920" y="286740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5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٣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  الشرط الزمني → 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LLVM IR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5074920" y="3105360"/>
            <a:ext cx="36572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عند_استمرار(...لمدة: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5s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 يُولِّد عداداً زمنياً كمتغير عالمي في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IR: elapsed = now - first_seen_ms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لا يُفعِّل الأمر إلا عند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elapsed ≥ 5000 ms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يمنع الاستجابة للتقلبات اللحظية في حساسات الضجيج.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4983480" y="3894480"/>
            <a:ext cx="3840120" cy="1032840"/>
          </a:xfrm>
          <a:prstGeom prst="roundRect">
            <a:avLst>
              <a:gd name="adj" fmla="val 6195"/>
            </a:avLst>
          </a:prstGeom>
          <a:solidFill>
            <a:srgbClr val="0d3349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5074920" y="395856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5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٤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  الأمر → </a:t>
            </a:r>
            <a:r>
              <a:rPr lang="en-US" sz="95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write queue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5074920" y="4196160"/>
            <a:ext cx="36572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امر مروحة_التبريد: تشغيل يُولِّد: (أ) تحديث المتغير العالمي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_مروحة. (ب) استدعاء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mizan_actuator_cmd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() لتسجيل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rising-edge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وعدّ الدورة. (ج) إضافة كتابة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Modbus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إلى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wq_addrs/wq_values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لتنفيذها دفعةً واحدة.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320040" y="10980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2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جاهز للتشغيل الحقيقي — البروتوكولات والمعايير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320040" y="521280"/>
            <a:ext cx="8503560" cy="2700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320040" y="621720"/>
            <a:ext cx="850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0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لا يكفي أن تُنتج لغة برمجة ملفاً تنفيذياً — يجب أن يتحدث هذا الملف لغة الصناعة الحقيقية. الكود الناتج عن ميزان لا يُحاكي: يتصل بالعتاد مباشرةً عبر بروتوكولين هما الأكثر انتشاراً في أتمتة المصانع عالمياً.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320040" y="1152000"/>
            <a:ext cx="4205880" cy="2194200"/>
          </a:xfrm>
          <a:prstGeom prst="roundRect">
            <a:avLst>
              <a:gd name="adj" fmla="val 3750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411480" y="11977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Modbus TCP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411480" y="1499760"/>
            <a:ext cx="40230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/>
            <a:r>
              <a:rPr lang="hi-IN" sz="900" b="1" u="none" strike="noStrike">
                <a:solidFill>
                  <a:srgbClr val="e8c96a"/>
                </a:solidFill>
                <a:effectLst/>
                <a:uFillTx/>
                <a:latin typeface="Arial"/>
                <a:cs typeface="Arial"/>
              </a:rPr>
              <a:t>ما هو؟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بروتوكول قراءة/كتابة السجلات عبر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TCP/IP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معيار صناعي منذ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1979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، يدعمه أكثر من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90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% من وحدات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PLC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في السوق العالمي (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Siemens S7, Allen-Bradley, Schneider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…).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hi-IN" sz="900" b="1" u="none" strike="noStrike">
                <a:solidFill>
                  <a:srgbClr val="e8c96a"/>
                </a:solidFill>
                <a:effectLst/>
                <a:uFillTx/>
                <a:latin typeface="Arial"/>
                <a:cs typeface="Arial"/>
              </a:rPr>
              <a:t>كيف يُطبِّقه ميزان؟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كل حساس ومشغّل لديه عنوان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Modbus (0x0000…)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المُجمِّع يُولِّد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mizan_modbus_read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() في كل دورة مسح وكتابة الأوامر عبر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write-queue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متزامنة.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runtime.c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يستخدم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libmodbus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المكتبة الرسمية.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00" b="1" u="none" strike="noStrike">
                <a:solidFill>
                  <a:srgbClr val="e8c96a"/>
                </a:solidFill>
                <a:effectLst/>
                <a:uFillTx/>
                <a:latin typeface="Arial"/>
                <a:cs typeface="Arial"/>
              </a:rPr>
              <a:t>الأثر؟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الملف الثنائي الناتج يعمل فوراً على أي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PLC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حقيقي يدعم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Modbus TCP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دون أي تعديل إضافي.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4617720" y="1152000"/>
            <a:ext cx="4205880" cy="2194200"/>
          </a:xfrm>
          <a:prstGeom prst="roundRect">
            <a:avLst>
              <a:gd name="adj" fmla="val 3750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4709160" y="11977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MQTT v3.1.1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4709160" y="1499760"/>
            <a:ext cx="40230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/>
            <a:r>
              <a:rPr lang="hi-IN" sz="900" b="1" u="none" strike="noStrike">
                <a:solidFill>
                  <a:srgbClr val="e8c96a"/>
                </a:solidFill>
                <a:effectLst/>
                <a:uFillTx/>
                <a:latin typeface="Arial"/>
                <a:cs typeface="Arial"/>
              </a:rPr>
              <a:t>ما هو؟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بروتوكول رسائل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publish/subscribe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خفيف الوزن. معيار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OASIS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الدولي، الأساس المعتمد في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IoT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وأنظمة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SCADA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الحديثة (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AWS IoT, Azure IoT Hub, Ignition SCADA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r>
              <a:rPr lang="hi-IN" sz="900" b="1" u="none" strike="noStrike">
                <a:solidFill>
                  <a:srgbClr val="e8c96a"/>
                </a:solidFill>
                <a:effectLst/>
                <a:uFillTx/>
                <a:latin typeface="Arial"/>
                <a:cs typeface="Arial"/>
              </a:rPr>
              <a:t>كيف يُطبِّقه ميزان؟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كل تنبيه وتصعيد يُنشر تلقائياً على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mizan/alerts/{level}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بصيغة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JSON. runtime.c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يستخدم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libmosquitto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مع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non-blocking loop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المنفذ قابل للتخصيص (--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mqtt-port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rtl="1"/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900" b="1" u="none" strike="noStrike">
                <a:solidFill>
                  <a:srgbClr val="e8c96a"/>
                </a:solidFill>
                <a:effectLst/>
                <a:uFillTx/>
                <a:latin typeface="Arial"/>
                <a:cs typeface="Arial"/>
              </a:rPr>
              <a:t>الأثر؟  </a:t>
            </a:r>
            <a:r>
              <a:rPr lang="hi-IN" sz="90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أي منظومة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SCADA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أو سحابة صناعية تستطيع الاشتراك في موضوعات ميزان فوراً دون تعديل الكود الناتج.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320040" y="3429000"/>
            <a:ext cx="2678760" cy="1143000"/>
          </a:xfrm>
          <a:prstGeom prst="roundRect">
            <a:avLst>
              <a:gd name="adj" fmla="val 5634"/>
            </a:avLst>
          </a:prstGeom>
          <a:solidFill>
            <a:srgbClr val="0d1f3c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411480" y="3520440"/>
            <a:ext cx="249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وقت التشغيل</a:t>
            </a:r>
            <a:r>
              <a:rPr lang="en-US" sz="1000" b="1" u="none" strike="noStrike">
                <a:solidFill>
                  <a:srgbClr val="e8c96a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1000" b="1" u="none" strike="noStrike">
                <a:solidFill>
                  <a:srgbClr val="e8c96a"/>
                </a:solidFill>
                <a:effectLst/>
                <a:uFillTx/>
                <a:latin typeface="Cambria"/>
                <a:ea typeface="Cambria"/>
              </a:rPr>
              <a:t>C </a:t>
            </a: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المُحمول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411480" y="3776400"/>
            <a:ext cx="24958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runtime.c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يُصرَّف مع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clang/gcc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ويُربط مباشرةً بالملف الثنائي. يعمل على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Linux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Windows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وأي نظام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POSIX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— بما فيها لوحات مدمجة كـ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Raspberry Pi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3141000" y="3429000"/>
            <a:ext cx="2678760" cy="1143000"/>
          </a:xfrm>
          <a:prstGeom prst="roundRect">
            <a:avLst>
              <a:gd name="adj" fmla="val 5634"/>
            </a:avLst>
          </a:prstGeom>
          <a:solidFill>
            <a:srgbClr val="0d1f3c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3232440" y="3520440"/>
            <a:ext cx="249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المُحاكي التفاعلي الحقيقي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3232440" y="3776400"/>
            <a:ext cx="24958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plant_simulator.py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يُشغّل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Modbus TCP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فعلياً مع نموذج فيزيائي للمصنع. يمكن محاكاة قطع الاتصال وحقن قيم الحساسات يدوياً أثناء التشغيل لاختبار قواعد الصحة.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5961960" y="3429000"/>
            <a:ext cx="2678760" cy="1143000"/>
          </a:xfrm>
          <a:prstGeom prst="roundRect">
            <a:avLst>
              <a:gd name="adj" fmla="val 5634"/>
            </a:avLst>
          </a:prstGeom>
          <a:solidFill>
            <a:srgbClr val="0d1f3c"/>
          </a:solidFill>
          <a:ln w="12700">
            <a:solidFill>
              <a:srgbClr val="1a3a6b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6053400" y="3520440"/>
            <a:ext cx="249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بنية مفتوحة للتمديد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6053400" y="3776400"/>
            <a:ext cx="24958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Visitor Pattern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في كل طبقة يجعل إضافة بروتوكولات جديدة (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OPC-UA, EtherNet/IP, CANbus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 مسألة تمديد للـ 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IRGenerator</a:t>
            </a:r>
            <a:r>
              <a:rPr lang="en-US" sz="90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فقط دون إعادة كتابة المُجمِّع.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320040" y="109800"/>
            <a:ext cx="85035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2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ما الذي أنجزناه؟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320040" y="521280"/>
            <a:ext cx="8503560" cy="2700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320040" y="621720"/>
            <a:ext cx="2678760" cy="1161000"/>
          </a:xfrm>
          <a:prstGeom prst="roundRect">
            <a:avLst>
              <a:gd name="adj" fmla="val 6299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704160"/>
            <a:ext cx="249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مُجمِّع كامل من الصفر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411480" y="969120"/>
            <a:ext cx="249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مراحل متسلسلة: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Lexer → Parser → AST → Semantic → IR → Optimizer → Object → Linker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 كل مرحلة مكتوبة يدوياً بـ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Python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ANTLR4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llvmlite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3141000" y="621720"/>
            <a:ext cx="2678760" cy="1161000"/>
          </a:xfrm>
          <a:prstGeom prst="roundRect">
            <a:avLst>
              <a:gd name="adj" fmla="val 6299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3232440" y="704160"/>
            <a:ext cx="249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DSL</a:t>
            </a: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 صناعية عربية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3232440" y="969120"/>
            <a:ext cx="249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ليست لغة عامة. هي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DSL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يُعبِّر بدقة عن مفاهيم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PLC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: الأوضاع، القواعد، الحساسات، المشغّلات، الانتقالات — بكلمات مفاتيح عربية أصيلة ودلالات صناعية واضحة.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5961960" y="621720"/>
            <a:ext cx="2678760" cy="1161000"/>
          </a:xfrm>
          <a:prstGeom prst="roundRect">
            <a:avLst>
              <a:gd name="adj" fmla="val 6299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6053400" y="704160"/>
            <a:ext cx="249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أمان على مستوى المُجمِّع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053400" y="969120"/>
            <a:ext cx="249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8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فحص الوحدات الفيزيائية، حدود المصفوفات، والقسمة على صفر — أخطاء تُكتشَف قبل التشغيل لا بعده. لا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undefined behavior</a:t>
            </a:r>
            <a:r>
              <a:rPr lang="hi-IN" sz="850" b="0" u="none" strike="noStrike">
                <a:solidFill>
                  <a:srgbClr val="e8ecf4"/>
                </a:solidFill>
                <a:effectLst/>
                <a:uFillTx/>
                <a:latin typeface="Arial"/>
                <a:cs typeface="Arial"/>
              </a:rPr>
              <a:t>، لا تلف ذاكرة صامت في أنظمة حرجة.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320040" y="1892880"/>
            <a:ext cx="2678760" cy="1161000"/>
          </a:xfrm>
          <a:prstGeom prst="roundRect">
            <a:avLst>
              <a:gd name="adj" fmla="val 6299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411480" y="1974960"/>
            <a:ext cx="249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وقت تشغيل صناعي حقيقي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411480" y="2240280"/>
            <a:ext cx="249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ring buffers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للتجميعات الزمنية (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avg/max/min/rate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)، تتبع صحة الحساسات، عدّادات دورات المشغّلات، جدولة تقارير دقيقة، وتكامل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MQTT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كامل — كلها في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runtime.c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4"/>
          <p:cNvSpPr/>
          <p:nvPr/>
        </p:nvSpPr>
        <p:spPr>
          <a:xfrm>
            <a:off x="3141000" y="1892880"/>
            <a:ext cx="2678760" cy="1161000"/>
          </a:xfrm>
          <a:prstGeom prst="roundRect">
            <a:avLst>
              <a:gd name="adj" fmla="val 6299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3232440" y="1974960"/>
            <a:ext cx="249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تكامل </a:t>
            </a: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SCADA</a:t>
            </a:r>
            <a:r>
              <a:rPr lang="en-US" sz="10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 فوري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3232440" y="2240280"/>
            <a:ext cx="249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Modbus TCP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و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MQTT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مُدمجان في الإخراج. أي منظومة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SCADA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تجارية (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Ignition, Node-RED, AWS IoT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) تستطيع الاشتراك في موضوعات ميزان دون أي تعديل إضافي.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5961960" y="1892880"/>
            <a:ext cx="2678760" cy="1161000"/>
          </a:xfrm>
          <a:prstGeom prst="roundRect">
            <a:avLst>
              <a:gd name="adj" fmla="val 6299"/>
            </a:avLst>
          </a:prstGeom>
          <a:solidFill>
            <a:srgbClr val="0d3349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6053400" y="1974960"/>
            <a:ext cx="249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0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بنية قابلة للتمديد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6053400" y="2240280"/>
            <a:ext cx="2495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 rtl="1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Visitor Pattern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في كل طبقة يجعل إضافة بروتوكولات أو أنواع بيانات أو تحسينات 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IR</a:t>
            </a:r>
            <a:r>
              <a:rPr lang="en-US" sz="850" b="0" u="none" strike="noStrike">
                <a:solidFill>
                  <a:srgbClr val="e8ecf4"/>
                </a:solidFill>
                <a:effectLst/>
                <a:uFillTx/>
                <a:latin typeface="Arial"/>
                <a:ea typeface="Arial"/>
              </a:rPr>
              <a:t> مسألة تمديد لا إعادة كتابة. المشروع مُهيَّأ للتطوير الأكاديمي والصناعي المستمر.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320040" y="3291840"/>
            <a:ext cx="850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hi-IN" sz="1100" b="0" i="1" u="none" strike="noStrike">
                <a:solidFill>
                  <a:srgbClr val="e8c96a"/>
                </a:solidFill>
                <a:effectLst/>
                <a:uFillTx/>
                <a:latin typeface="Cambria"/>
                <a:cs typeface="Cambria"/>
              </a:rPr>
              <a:t>ميزان تُثبت أن اللغة الأم ليست عائقاً أمام الهندسة الصناعية — بل يمكن أن تكون قوّتها</a:t>
            </a:r>
            <a:r>
              <a:rPr lang="en-US" sz="1100" b="0" i="1" u="none" strike="noStrike">
                <a:solidFill>
                  <a:srgbClr val="e8c96a"/>
                </a:solidFill>
                <a:effectLst/>
                <a:uFillTx/>
                <a:latin typeface="Cambria"/>
                <a:ea typeface="Cambria"/>
              </a:rPr>
              <a:t>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320040" y="3703320"/>
            <a:ext cx="8503560" cy="1170000"/>
          </a:xfrm>
          <a:prstGeom prst="roundRect">
            <a:avLst>
              <a:gd name="adj" fmla="val 7407"/>
            </a:avLst>
          </a:prstGeom>
          <a:solidFill>
            <a:srgbClr val="0d1f3c"/>
          </a:solidFill>
          <a:ln w="12700">
            <a:solidFill>
              <a:srgbClr val="c9a84c"/>
            </a:solidFill>
            <a:round/>
          </a:ln>
          <a:effectLst>
            <a:outerShdw algn="bl" blurRad="63360" dir="2700000" dist="25455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411480" y="374904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algn="l" pos="0"/>
              </a:tabLst>
            </a:pPr>
            <a:r>
              <a:rPr lang="hi-IN" sz="1100" b="1" u="none" strike="noStrike">
                <a:solidFill>
                  <a:srgbClr val="c9a84c"/>
                </a:solidFill>
                <a:effectLst/>
                <a:uFillTx/>
                <a:latin typeface="Cambria"/>
                <a:cs typeface="Cambria"/>
              </a:rPr>
              <a:t>المستودع على </a:t>
            </a:r>
            <a:r>
              <a:rPr lang="en-US" sz="11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GitHub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3">
            <a:hlinkClick r:id="rId1"/>
          </p:cNvPr>
          <p:cNvSpPr/>
          <p:nvPr/>
        </p:nvSpPr>
        <p:spPr>
          <a:xfrm>
            <a:off x="411480" y="404172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sng" strike="noStrike">
                <a:solidFill>
                  <a:srgbClr val="e8c96a"/>
                </a:solidFill>
                <a:effectLst/>
                <a:uFillTx/>
                <a:latin typeface="Courier New"/>
                <a:ea typeface="Courier New"/>
                <a:hlinkClick r:id="rId2"/>
              </a:rPr>
              <a:t>https://github.com/mrhj26ali/Mizan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411480" y="437076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LibreOffice/25.8.7.3$Windows_X86_64 LibreOffice_project/30742500f2d3eb4366ac312fa33d3dcabdb3eba5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2026-06-25T07:19:11Z</dcterms:created>
  <dc:creator>فريق ميزان</dc:creator>
  <dc:description/>
  <dc:language>en-US</dc:language>
  <cp:lastModifiedBy/>
  <dcterms:modified xsi:type="dcterms:W3CDTF">2026-06-25T10:27:18Z</dcterms:modified>
  <cp:revision>2</cp:revision>
  <dc:subject>PptxGenJS Presentation</dc:subject>
  <dc:title>ميزان - لغة برمجة صناعية عربية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