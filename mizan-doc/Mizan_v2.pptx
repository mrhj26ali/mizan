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92608"/>
            <a:ext cx="8321040" cy="41148"/>
          </a:xfrm>
          <a:prstGeom prst="rect">
            <a:avLst/>
          </a:prstGeom>
          <a:solidFill>
            <a:srgbClr val="C9A84C"/>
          </a:solidFill>
          <a:ln w="12700">
            <a:solidFill>
              <a:srgbClr val="C9A84C"/>
            </a:solidFill>
            <a:prstDash val="solid"/>
          </a:ln>
        </p:spPr>
      </p:sp>
      <p:sp>
        <p:nvSpPr>
          <p:cNvPr id="3" name="Text 1"/>
          <p:cNvSpPr/>
          <p:nvPr/>
        </p:nvSpPr>
        <p:spPr>
          <a:xfrm>
            <a:off x="457200" y="502920"/>
            <a:ext cx="8229600" cy="1508760"/>
          </a:xfrm>
          <a:prstGeom prst="rect">
            <a:avLst/>
          </a:prstGeom>
          <a:noFill/>
          <a:ln/>
        </p:spPr>
        <p:txBody>
          <a:bodyPr wrap="square" rtlCol="0" anchor="ctr"/>
          <a:lstStyle/>
          <a:p>
            <a:pPr algn="ctr" indent="0" marL="0">
              <a:buNone/>
            </a:pPr>
            <a:r>
              <a:rPr lang="en-US" sz="8400" b="1" spc="600" kern="0" dirty="0">
                <a:solidFill>
                  <a:srgbClr val="C9A84C"/>
                </a:solidFill>
                <a:latin typeface="Cambria" pitchFamily="34" charset="0"/>
                <a:ea typeface="Cambria" pitchFamily="34" charset="-122"/>
                <a:cs typeface="Cambria" pitchFamily="34" charset="-120"/>
              </a:rPr>
              <a:t>مِيزَان</a:t>
            </a:r>
            <a:endParaRPr lang="en-US" sz="8400" dirty="0"/>
          </a:p>
        </p:txBody>
      </p:sp>
      <p:sp>
        <p:nvSpPr>
          <p:cNvPr id="4" name="Text 2"/>
          <p:cNvSpPr/>
          <p:nvPr/>
        </p:nvSpPr>
        <p:spPr>
          <a:xfrm>
            <a:off x="457200" y="1920240"/>
            <a:ext cx="8229600" cy="457200"/>
          </a:xfrm>
          <a:prstGeom prst="rect">
            <a:avLst/>
          </a:prstGeom>
          <a:noFill/>
          <a:ln/>
        </p:spPr>
        <p:txBody>
          <a:bodyPr wrap="square" rtlCol="0" anchor="ctr"/>
          <a:lstStyle/>
          <a:p>
            <a:pPr algn="ctr" indent="0" marL="0">
              <a:buNone/>
            </a:pPr>
            <a:r>
              <a:rPr lang="en-US" sz="2000" spc="1200" kern="0" dirty="0">
                <a:solidFill>
                  <a:srgbClr val="E8C87A"/>
                </a:solidFill>
                <a:latin typeface="Calibri" pitchFamily="34" charset="0"/>
                <a:ea typeface="Calibri" pitchFamily="34" charset="-122"/>
                <a:cs typeface="Calibri" pitchFamily="34" charset="-120"/>
              </a:rPr>
              <a:t>M  I  Z  A  N</a:t>
            </a:r>
            <a:endParaRPr lang="en-US" sz="2000" dirty="0"/>
          </a:p>
        </p:txBody>
      </p:sp>
      <p:sp>
        <p:nvSpPr>
          <p:cNvPr id="5" name="Shape 3"/>
          <p:cNvSpPr/>
          <p:nvPr/>
        </p:nvSpPr>
        <p:spPr>
          <a:xfrm>
            <a:off x="411480" y="2359152"/>
            <a:ext cx="8321040" cy="41148"/>
          </a:xfrm>
          <a:prstGeom prst="rect">
            <a:avLst/>
          </a:prstGeom>
          <a:solidFill>
            <a:srgbClr val="C9A84C"/>
          </a:solidFill>
          <a:ln w="12700">
            <a:solidFill>
              <a:srgbClr val="C9A84C"/>
            </a:solidFill>
            <a:prstDash val="solid"/>
          </a:ln>
        </p:spPr>
      </p:sp>
      <p:sp>
        <p:nvSpPr>
          <p:cNvPr id="6" name="Text 4"/>
          <p:cNvSpPr/>
          <p:nvPr/>
        </p:nvSpPr>
        <p:spPr>
          <a:xfrm>
            <a:off x="640080" y="2542032"/>
            <a:ext cx="7863840" cy="594360"/>
          </a:xfrm>
          <a:prstGeom prst="rect">
            <a:avLst/>
          </a:prstGeom>
          <a:noFill/>
          <a:ln/>
        </p:spPr>
        <p:txBody>
          <a:bodyPr wrap="square" rtlCol="0" anchor="ctr"/>
          <a:lstStyle/>
          <a:p>
            <a:pPr algn="ctr" indent="0" marL="0">
              <a:buNone/>
            </a:pPr>
            <a:r>
              <a:rPr lang="en-US" sz="1600" dirty="0">
                <a:solidFill>
                  <a:srgbClr val="D6E4F0"/>
                </a:solidFill>
                <a:latin typeface="Calibri" pitchFamily="34" charset="0"/>
                <a:ea typeface="Calibri" pitchFamily="34" charset="-122"/>
                <a:cs typeface="Calibri" pitchFamily="34" charset="-120"/>
              </a:rPr>
              <a:t>لغة برمجة عربية متخصصة ومُجمِّع كامل لأنظمة الأتمتة الصناعية وأنظمة SCADA</a:t>
            </a:r>
            <a:endParaRPr lang="en-US" sz="1600" dirty="0"/>
          </a:p>
        </p:txBody>
      </p:sp>
      <p:sp>
        <p:nvSpPr>
          <p:cNvPr id="7" name="Text 5"/>
          <p:cNvSpPr/>
          <p:nvPr/>
        </p:nvSpPr>
        <p:spPr>
          <a:xfrm>
            <a:off x="640080" y="3090672"/>
            <a:ext cx="7863840" cy="502920"/>
          </a:xfrm>
          <a:prstGeom prst="rect">
            <a:avLst/>
          </a:prstGeom>
          <a:noFill/>
          <a:ln/>
        </p:spPr>
        <p:txBody>
          <a:bodyPr wrap="square" rtlCol="0" anchor="ctr"/>
          <a:lstStyle/>
          <a:p>
            <a:pPr algn="ctr" indent="0" marL="0">
              <a:buNone/>
            </a:pPr>
            <a:r>
              <a:rPr lang="en-US" sz="1250" dirty="0">
                <a:solidFill>
                  <a:srgbClr val="7A9BBF"/>
                </a:solidFill>
                <a:latin typeface="Calibri" pitchFamily="34" charset="0"/>
                <a:ea typeface="Calibri" pitchFamily="34" charset="-122"/>
                <a:cs typeface="Calibri" pitchFamily="34" charset="-120"/>
              </a:rPr>
              <a:t>تستهدف وحدات التحكم المنطقي (PLC) والحساسات والمشغلات — تُنتج ملفات تنفيذية أصلية عبر LLVM</a:t>
            </a:r>
            <a:endParaRPr lang="en-US" sz="1250" dirty="0"/>
          </a:p>
        </p:txBody>
      </p:sp>
      <p:sp>
        <p:nvSpPr>
          <p:cNvPr id="8" name="Shape 6"/>
          <p:cNvSpPr/>
          <p:nvPr/>
        </p:nvSpPr>
        <p:spPr>
          <a:xfrm>
            <a:off x="1280160" y="3767328"/>
            <a:ext cx="6583680" cy="777240"/>
          </a:xfrm>
          <a:prstGeom prst="roundRect">
            <a:avLst>
              <a:gd name="adj" fmla="val 8235"/>
            </a:avLst>
          </a:prstGeom>
          <a:solidFill>
            <a:srgbClr val="1A3A5C"/>
          </a:solidFill>
          <a:ln w="12700">
            <a:solidFill>
              <a:srgbClr val="C9A84C"/>
            </a:solidFill>
            <a:prstDash val="solid"/>
          </a:ln>
          <a:effectLst>
            <a:outerShdw sx="100000" sy="100000" kx="0" ky="0" algn="bl" rotWithShape="0" blurRad="101600" dist="25400" dir="2700000">
              <a:srgbClr val="000000">
                <a:alpha val="22000"/>
              </a:srgbClr>
            </a:outerShdw>
          </a:effectLst>
        </p:spPr>
      </p:sp>
      <p:sp>
        <p:nvSpPr>
          <p:cNvPr id="9" name="Text 7"/>
          <p:cNvSpPr/>
          <p:nvPr/>
        </p:nvSpPr>
        <p:spPr>
          <a:xfrm>
            <a:off x="1280160" y="3767328"/>
            <a:ext cx="6583680" cy="777240"/>
          </a:xfrm>
          <a:prstGeom prst="rect">
            <a:avLst/>
          </a:prstGeom>
          <a:noFill/>
          <a:ln/>
        </p:spPr>
        <p:txBody>
          <a:bodyPr wrap="square" rtlCol="0" anchor="ctr"/>
          <a:lstStyle/>
          <a:p>
            <a:pPr algn="ctr" indent="0" marL="0">
              <a:buNone/>
            </a:pPr>
            <a:r>
              <a:rPr lang="en-US" sz="1300" dirty="0">
                <a:solidFill>
                  <a:srgbClr val="7A9BBF"/>
                </a:solidFill>
                <a:latin typeface="Calibri" pitchFamily="34" charset="0"/>
                <a:ea typeface="Calibri" pitchFamily="34" charset="-122"/>
                <a:cs typeface="Calibri" pitchFamily="34" charset="-120"/>
              </a:rPr>
              <a:t>إعداد:  </a:t>
            </a:r>
            <a:pPr algn="ctr" indent="0" marL="0">
              <a:buNone/>
            </a:pPr>
            <a:r>
              <a:rPr lang="en-US" sz="1300" b="1" dirty="0">
                <a:solidFill>
                  <a:srgbClr val="E8C87A"/>
                </a:solidFill>
                <a:latin typeface="Calibri" pitchFamily="34" charset="0"/>
                <a:ea typeface="Calibri" pitchFamily="34" charset="-122"/>
                <a:cs typeface="Calibri" pitchFamily="34" charset="-120"/>
              </a:rPr>
              <a:t>[الاسم الأول]  ·  [الاسم الثاني]  ·  [الاسم الثالث]  ·  [الاسم الرابع]</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2240"/>
          </a:solidFill>
          <a:ln w="12700">
            <a:solidFill>
              <a:srgbClr val="112240"/>
            </a:solidFill>
            <a:prstDash val="solid"/>
          </a:ln>
        </p:spPr>
      </p:sp>
      <p:sp>
        <p:nvSpPr>
          <p:cNvPr id="3" name="Text 1"/>
          <p:cNvSpPr/>
          <p:nvPr/>
        </p:nvSpPr>
        <p:spPr>
          <a:xfrm>
            <a:off x="457200" y="45720"/>
            <a:ext cx="8229600" cy="777240"/>
          </a:xfrm>
          <a:prstGeom prst="rect">
            <a:avLst/>
          </a:prstGeom>
          <a:noFill/>
          <a:ln/>
        </p:spPr>
        <p:txBody>
          <a:bodyPr wrap="square" rtlCol="0" anchor="ctr"/>
          <a:lstStyle/>
          <a:p>
            <a:pPr algn="r" indent="0" marL="0">
              <a:buNone/>
            </a:pPr>
            <a:r>
              <a:rPr lang="en-US" sz="2400" b="1" dirty="0">
                <a:solidFill>
                  <a:srgbClr val="C9A84C"/>
                </a:solidFill>
                <a:latin typeface="Cambria" pitchFamily="34" charset="0"/>
                <a:ea typeface="Cambria" pitchFamily="34" charset="-122"/>
                <a:cs typeface="Cambria" pitchFamily="34" charset="-120"/>
              </a:rPr>
              <a:t>فكرة المشروع · المراجع المعيارية · التحسينات</a:t>
            </a:r>
            <a:endParaRPr lang="en-US" sz="2400" dirty="0"/>
          </a:p>
        </p:txBody>
      </p:sp>
      <p:sp>
        <p:nvSpPr>
          <p:cNvPr id="4" name="Shape 2"/>
          <p:cNvSpPr/>
          <p:nvPr/>
        </p:nvSpPr>
        <p:spPr>
          <a:xfrm>
            <a:off x="274320" y="960120"/>
            <a:ext cx="4206240" cy="1572768"/>
          </a:xfrm>
          <a:prstGeom prst="roundRect">
            <a:avLst>
              <a:gd name="adj" fmla="val 4070"/>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5" name="Text 3"/>
          <p:cNvSpPr/>
          <p:nvPr/>
        </p:nvSpPr>
        <p:spPr>
          <a:xfrm>
            <a:off x="411480" y="1005840"/>
            <a:ext cx="3931920" cy="320040"/>
          </a:xfrm>
          <a:prstGeom prst="rect">
            <a:avLst/>
          </a:prstGeom>
          <a:noFill/>
          <a:ln/>
        </p:spPr>
        <p:txBody>
          <a:bodyPr wrap="square" rtlCol="0" anchor="ctr"/>
          <a:lstStyle/>
          <a:p>
            <a:pPr algn="r" indent="0" marL="0">
              <a:buNone/>
            </a:pPr>
            <a:r>
              <a:rPr lang="en-US" sz="1300" b="1" dirty="0">
                <a:solidFill>
                  <a:srgbClr val="C9A84C"/>
                </a:solidFill>
                <a:latin typeface="Cambria" pitchFamily="34" charset="0"/>
                <a:ea typeface="Cambria" pitchFamily="34" charset="-122"/>
                <a:cs typeface="Cambria" pitchFamily="34" charset="-120"/>
              </a:rPr>
              <a:t>الفكرة الجوهرية</a:t>
            </a:r>
            <a:endParaRPr lang="en-US" sz="1300" dirty="0"/>
          </a:p>
        </p:txBody>
      </p:sp>
      <p:sp>
        <p:nvSpPr>
          <p:cNvPr id="6" name="Text 4"/>
          <p:cNvSpPr/>
          <p:nvPr/>
        </p:nvSpPr>
        <p:spPr>
          <a:xfrm>
            <a:off x="411480" y="1307592"/>
            <a:ext cx="3931920" cy="1170432"/>
          </a:xfrm>
          <a:prstGeom prst="rect">
            <a:avLst/>
          </a:prstGeom>
          <a:noFill/>
          <a:ln/>
        </p:spPr>
        <p:txBody>
          <a:bodyPr wrap="square" rtlCol="0" anchor="t"/>
          <a:lstStyle/>
          <a:p>
            <a:pPr algn="r" indent="0" marL="0">
              <a:buNone/>
            </a:pPr>
            <a:r>
              <a:rPr lang="en-US" sz="950" dirty="0">
                <a:solidFill>
                  <a:srgbClr val="D6E4F0"/>
                </a:solidFill>
                <a:latin typeface="Calibri" pitchFamily="34" charset="0"/>
                <a:ea typeface="Calibri" pitchFamily="34" charset="-122"/>
                <a:cs typeface="Calibri" pitchFamily="34" charset="-120"/>
              </a:rPr>
              <a:t>لا يوجد حتى الآن نموذج برمجي عربي لأنظمة الأتمتة الصناعية. يضطر مهندسو SCADA وPLC في المنطقة العربية إلى العمل بلغات برمجة أجنبية كـ IEC 61131-3 وStructured Text، مما يُفضي إلى حاجز معرفي وتشغيلي كبير. جاء ميزان ليُزيل هذا الحاجز بتقديم لغة DSL عربية كاملة تُنتج ملفات تنفيذية أصلية دون مُفسِّر وسيط.</a:t>
            </a:r>
            <a:endParaRPr lang="en-US" sz="950" dirty="0"/>
          </a:p>
        </p:txBody>
      </p:sp>
      <p:sp>
        <p:nvSpPr>
          <p:cNvPr id="7" name="Shape 5"/>
          <p:cNvSpPr/>
          <p:nvPr/>
        </p:nvSpPr>
        <p:spPr>
          <a:xfrm>
            <a:off x="274320" y="2624328"/>
            <a:ext cx="4206240" cy="2286000"/>
          </a:xfrm>
          <a:prstGeom prst="roundRect">
            <a:avLst>
              <a:gd name="adj" fmla="val 2800"/>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8" name="Text 6"/>
          <p:cNvSpPr/>
          <p:nvPr/>
        </p:nvSpPr>
        <p:spPr>
          <a:xfrm>
            <a:off x="411480" y="2670048"/>
            <a:ext cx="3931920" cy="320040"/>
          </a:xfrm>
          <a:prstGeom prst="rect">
            <a:avLst/>
          </a:prstGeom>
          <a:noFill/>
          <a:ln/>
        </p:spPr>
        <p:txBody>
          <a:bodyPr wrap="square" rtlCol="0" anchor="ctr"/>
          <a:lstStyle/>
          <a:p>
            <a:pPr algn="r" indent="0" marL="0">
              <a:buNone/>
            </a:pPr>
            <a:r>
              <a:rPr lang="en-US" sz="1300" b="1" dirty="0">
                <a:solidFill>
                  <a:srgbClr val="C9A84C"/>
                </a:solidFill>
                <a:latin typeface="Cambria" pitchFamily="34" charset="0"/>
                <a:ea typeface="Cambria" pitchFamily="34" charset="-122"/>
                <a:cs typeface="Cambria" pitchFamily="34" charset="-120"/>
              </a:rPr>
              <a:t>المعايير المرجعية</a:t>
            </a:r>
            <a:endParaRPr lang="en-US" sz="1300" dirty="0"/>
          </a:p>
        </p:txBody>
      </p:sp>
      <p:sp>
        <p:nvSpPr>
          <p:cNvPr id="9" name="Text 7"/>
          <p:cNvSpPr/>
          <p:nvPr/>
        </p:nvSpPr>
        <p:spPr>
          <a:xfrm>
            <a:off x="411480" y="2990088"/>
            <a:ext cx="3931920" cy="1828800"/>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IEC 61131-3</a:t>
            </a:r>
            <a:pPr algn="r" indent="0" marL="0">
              <a:buNone/>
            </a:pPr>
            <a:r>
              <a:rPr lang="en-US" sz="950" dirty="0">
                <a:solidFill>
                  <a:srgbClr val="D6E4F0"/>
                </a:solidFill>
                <a:latin typeface="Calibri" pitchFamily="34" charset="0"/>
                <a:ea typeface="Calibri" pitchFamily="34" charset="-122"/>
                <a:cs typeface="Calibri" pitchFamily="34" charset="-120"/>
              </a:rPr>
              <a:t> — المعيار الدولي للغات برمجة وحدات التحكم المنطقي (Ladder Logic وStructured Text). يستوحي ميزان منه نموذج الوضع-القاعدة-الإجراء.
</a:t>
            </a:r>
            <a:pPr algn="r" indent="0" marL="0">
              <a:buNone/>
            </a:pPr>
            <a:r>
              <a:rPr lang="en-US" sz="950" b="1" dirty="0">
                <a:solidFill>
                  <a:srgbClr val="E8C87A"/>
                </a:solidFill>
                <a:latin typeface="Calibri" pitchFamily="34" charset="0"/>
                <a:ea typeface="Calibri" pitchFamily="34" charset="-122"/>
                <a:cs typeface="Calibri" pitchFamily="34" charset="-120"/>
              </a:rPr>
              <a:t>IEC 61499</a:t>
            </a:r>
            <a:pPr algn="r" indent="0" marL="0">
              <a:buNone/>
            </a:pPr>
            <a:r>
              <a:rPr lang="en-US" sz="950" dirty="0">
                <a:solidFill>
                  <a:srgbClr val="D6E4F0"/>
                </a:solidFill>
                <a:latin typeface="Calibri" pitchFamily="34" charset="0"/>
                <a:ea typeface="Calibri" pitchFamily="34" charset="-122"/>
                <a:cs typeface="Calibri" pitchFamily="34" charset="-120"/>
              </a:rPr>
              <a:t> — معيار الكتل الوظيفية للتحكم الصناعي الموزَّع. مَثَل نموذج انتقالات الحالة (FSM) في ميزان.
</a:t>
            </a:r>
            <a:pPr algn="r" indent="0" marL="0">
              <a:buNone/>
            </a:pPr>
            <a:r>
              <a:rPr lang="en-US" sz="950" b="1" dirty="0">
                <a:solidFill>
                  <a:srgbClr val="E8C87A"/>
                </a:solidFill>
                <a:latin typeface="Calibri" pitchFamily="34" charset="0"/>
                <a:ea typeface="Calibri" pitchFamily="34" charset="-122"/>
                <a:cs typeface="Calibri" pitchFamily="34" charset="-120"/>
              </a:rPr>
              <a:t>ISO 80000</a:t>
            </a:r>
            <a:pPr algn="r" indent="0" marL="0">
              <a:buNone/>
            </a:pPr>
            <a:r>
              <a:rPr lang="en-US" sz="950" dirty="0">
                <a:solidFill>
                  <a:srgbClr val="D6E4F0"/>
                </a:solidFill>
                <a:latin typeface="Calibri" pitchFamily="34" charset="0"/>
                <a:ea typeface="Calibri" pitchFamily="34" charset="-122"/>
                <a:cs typeface="Calibri" pitchFamily="34" charset="-120"/>
              </a:rPr>
              <a:t> — نظام الكميات الدولي. يرتبط نظام الأنواع والوحدات في ميزان مباشرةً بالتحليل الأبعادي لـ ISO 80000.</a:t>
            </a:r>
            <a:endParaRPr lang="en-US" sz="950" dirty="0"/>
          </a:p>
        </p:txBody>
      </p:sp>
      <p:sp>
        <p:nvSpPr>
          <p:cNvPr id="10" name="Shape 8"/>
          <p:cNvSpPr/>
          <p:nvPr/>
        </p:nvSpPr>
        <p:spPr>
          <a:xfrm>
            <a:off x="4663440" y="960120"/>
            <a:ext cx="4206240" cy="3950208"/>
          </a:xfrm>
          <a:prstGeom prst="roundRect">
            <a:avLst>
              <a:gd name="adj" fmla="val 1620"/>
            </a:avLst>
          </a:prstGeom>
          <a:solidFill>
            <a:srgbClr val="112240"/>
          </a:solidFill>
          <a:ln w="12700">
            <a:solidFill>
              <a:srgbClr val="C9A84C"/>
            </a:solidFill>
            <a:prstDash val="solid"/>
          </a:ln>
          <a:effectLst>
            <a:outerShdw sx="100000" sy="100000" kx="0" ky="0" algn="bl" rotWithShape="0" blurRad="101600" dist="25400" dir="2700000">
              <a:srgbClr val="000000">
                <a:alpha val="22000"/>
              </a:srgbClr>
            </a:outerShdw>
          </a:effectLst>
        </p:spPr>
      </p:sp>
      <p:sp>
        <p:nvSpPr>
          <p:cNvPr id="11" name="Text 9"/>
          <p:cNvSpPr/>
          <p:nvPr/>
        </p:nvSpPr>
        <p:spPr>
          <a:xfrm>
            <a:off x="4800600" y="1005840"/>
            <a:ext cx="3931920" cy="320040"/>
          </a:xfrm>
          <a:prstGeom prst="rect">
            <a:avLst/>
          </a:prstGeom>
          <a:noFill/>
          <a:ln/>
        </p:spPr>
        <p:txBody>
          <a:bodyPr wrap="square" rtlCol="0" anchor="ctr"/>
          <a:lstStyle/>
          <a:p>
            <a:pPr algn="r" indent="0" marL="0">
              <a:buNone/>
            </a:pPr>
            <a:r>
              <a:rPr lang="en-US" sz="1300" b="1" dirty="0">
                <a:solidFill>
                  <a:srgbClr val="C9A84C"/>
                </a:solidFill>
                <a:latin typeface="Cambria" pitchFamily="34" charset="0"/>
                <a:ea typeface="Cambria" pitchFamily="34" charset="-122"/>
                <a:cs typeface="Cambria" pitchFamily="34" charset="-120"/>
              </a:rPr>
              <a:t>التحسينات الرئيسية وأثرها</a:t>
            </a:r>
            <a:endParaRPr lang="en-US" sz="1300" dirty="0"/>
          </a:p>
        </p:txBody>
      </p:sp>
      <p:sp>
        <p:nvSpPr>
          <p:cNvPr id="12" name="Text 10"/>
          <p:cNvSpPr/>
          <p:nvPr/>
        </p:nvSpPr>
        <p:spPr>
          <a:xfrm>
            <a:off x="4800600" y="1371600"/>
            <a:ext cx="3931920" cy="914400"/>
          </a:xfrm>
          <a:prstGeom prst="rect">
            <a:avLst/>
          </a:prstGeom>
          <a:noFill/>
          <a:ln/>
        </p:spPr>
        <p:txBody>
          <a:bodyPr wrap="square" rtlCol="0" anchor="t"/>
          <a:lstStyle/>
          <a:p>
            <a:pPr algn="r" indent="0" marL="0">
              <a:buNone/>
            </a:pPr>
            <a:r>
              <a:rPr lang="en-US" sz="1050" b="1" dirty="0">
                <a:solidFill>
                  <a:srgbClr val="E8C87A"/>
                </a:solidFill>
                <a:latin typeface="Calibri" pitchFamily="34" charset="0"/>
                <a:ea typeface="Calibri" pitchFamily="34" charset="-122"/>
                <a:cs typeface="Calibri" pitchFamily="34" charset="-120"/>
              </a:rPr>
              <a:t>نظام الأنواع الأبعادي للوحدات
</a:t>
            </a:r>
            <a:pPr algn="r" indent="0" marL="0">
              <a:buNone/>
            </a:pPr>
            <a:r>
              <a:rPr lang="en-US" sz="900" dirty="0">
                <a:solidFill>
                  <a:srgbClr val="D6E4F0"/>
                </a:solidFill>
                <a:latin typeface="Calibri" pitchFamily="34" charset="0"/>
                <a:ea typeface="Calibri" pitchFamily="34" charset="-122"/>
                <a:cs typeface="Calibri" pitchFamily="34" charset="-120"/>
              </a:rPr>
              <a:t>يمنع العمليات غير المنطقية فيزيائياً (كجمع الضغط مع درجة الحرارة) في مرحلة الترجمة. يستند إلى ذرّات ISO 80000 القانونية — فوارق الوحدات تُولِّد خطأ دلالياً قبل توليد أي ملف تنفيذي.</a:t>
            </a:r>
            <a:endParaRPr lang="en-US" sz="1050" dirty="0"/>
          </a:p>
        </p:txBody>
      </p:sp>
      <p:sp>
        <p:nvSpPr>
          <p:cNvPr id="13" name="Text 11"/>
          <p:cNvSpPr/>
          <p:nvPr/>
        </p:nvSpPr>
        <p:spPr>
          <a:xfrm>
            <a:off x="4800600" y="2322576"/>
            <a:ext cx="3931920" cy="914400"/>
          </a:xfrm>
          <a:prstGeom prst="rect">
            <a:avLst/>
          </a:prstGeom>
          <a:noFill/>
          <a:ln/>
        </p:spPr>
        <p:txBody>
          <a:bodyPr wrap="square" rtlCol="0" anchor="t"/>
          <a:lstStyle/>
          <a:p>
            <a:pPr algn="r" indent="0" marL="0">
              <a:buNone/>
            </a:pPr>
            <a:r>
              <a:rPr lang="en-US" sz="1050" b="1" dirty="0">
                <a:solidFill>
                  <a:srgbClr val="E8C87A"/>
                </a:solidFill>
                <a:latin typeface="Calibri" pitchFamily="34" charset="0"/>
                <a:ea typeface="Calibri" pitchFamily="34" charset="-122"/>
                <a:cs typeface="Calibri" pitchFamily="34" charset="-120"/>
              </a:rPr>
              <a:t>الشروط الزمنية وشروط التصويت
</a:t>
            </a:r>
            <a:pPr algn="r" indent="0" marL="0">
              <a:buNone/>
            </a:pPr>
            <a:r>
              <a:rPr lang="en-US" sz="900" dirty="0">
                <a:solidFill>
                  <a:srgbClr val="D6E4F0"/>
                </a:solidFill>
                <a:latin typeface="Calibri" pitchFamily="34" charset="0"/>
                <a:ea typeface="Calibri" pitchFamily="34" charset="-122"/>
                <a:cs typeface="Calibri" pitchFamily="34" charset="-120"/>
              </a:rPr>
              <a:t>عند_استمرار: تضمن أن الشرط صحيح باستمرار لمدة محددة قبل التنفيذ، مما يمنع اضطرابات المشغلات من الضوضاء. تصويت N من M: يُضيف إجماع التكرار المطلوب في منشآت IEC 61511.</a:t>
            </a:r>
            <a:endParaRPr lang="en-US" sz="1050" dirty="0"/>
          </a:p>
        </p:txBody>
      </p:sp>
      <p:sp>
        <p:nvSpPr>
          <p:cNvPr id="14" name="Text 12"/>
          <p:cNvSpPr/>
          <p:nvPr/>
        </p:nvSpPr>
        <p:spPr>
          <a:xfrm>
            <a:off x="4800600" y="3273552"/>
            <a:ext cx="3931920" cy="914400"/>
          </a:xfrm>
          <a:prstGeom prst="rect">
            <a:avLst/>
          </a:prstGeom>
          <a:noFill/>
          <a:ln/>
        </p:spPr>
        <p:txBody>
          <a:bodyPr wrap="square" rtlCol="0" anchor="t"/>
          <a:lstStyle/>
          <a:p>
            <a:pPr algn="r" indent="0" marL="0">
              <a:buNone/>
            </a:pPr>
            <a:r>
              <a:rPr lang="en-US" sz="1050" b="1" dirty="0">
                <a:solidFill>
                  <a:srgbClr val="E8C87A"/>
                </a:solidFill>
                <a:latin typeface="Calibri" pitchFamily="34" charset="0"/>
                <a:ea typeface="Calibri" pitchFamily="34" charset="-122"/>
                <a:cs typeface="Calibri" pitchFamily="34" charset="-120"/>
              </a:rPr>
              <a:t>مراقبة صحة الحساسات
</a:t>
            </a:r>
            <a:pPr algn="r" indent="0" marL="0">
              <a:buNone/>
            </a:pPr>
            <a:r>
              <a:rPr lang="en-US" sz="900" dirty="0">
                <a:solidFill>
                  <a:srgbClr val="D6E4F0"/>
                </a:solidFill>
                <a:latin typeface="Calibri" pitchFamily="34" charset="0"/>
                <a:ea typeface="Calibri" pitchFamily="34" charset="-122"/>
                <a:cs typeface="Calibri" pitchFamily="34" charset="-120"/>
              </a:rPr>
              <a:t>يُعلَن عن أوضاع الأعطال (انقطاع الاتصال، قيمة ثابتة، خروج عن النطاق) مباشرةً على الحساس. يُولِّد المُجمِّع حرّاس وقت التشغيل التي تُطلق انتقالات الوضع الآمن تلقائياً.</a:t>
            </a:r>
            <a:endParaRPr lang="en-US" sz="1050" dirty="0"/>
          </a:p>
        </p:txBody>
      </p:sp>
      <p:sp>
        <p:nvSpPr>
          <p:cNvPr id="15" name="Text 13"/>
          <p:cNvSpPr/>
          <p:nvPr/>
        </p:nvSpPr>
        <p:spPr>
          <a:xfrm>
            <a:off x="4800600" y="4224528"/>
            <a:ext cx="3931920" cy="914400"/>
          </a:xfrm>
          <a:prstGeom prst="rect">
            <a:avLst/>
          </a:prstGeom>
          <a:noFill/>
          <a:ln/>
        </p:spPr>
        <p:txBody>
          <a:bodyPr wrap="square" rtlCol="0" anchor="t"/>
          <a:lstStyle/>
          <a:p>
            <a:pPr algn="r" indent="0" marL="0">
              <a:buNone/>
            </a:pPr>
            <a:r>
              <a:rPr lang="en-US" sz="1050" b="1" dirty="0">
                <a:solidFill>
                  <a:srgbClr val="E8C87A"/>
                </a:solidFill>
                <a:latin typeface="Calibri" pitchFamily="34" charset="0"/>
                <a:ea typeface="Calibri" pitchFamily="34" charset="-122"/>
                <a:cs typeface="Calibri" pitchFamily="34" charset="-120"/>
              </a:rPr>
              <a:t>تقارير الصيانة التنبؤية
</a:t>
            </a:r>
            <a:pPr algn="r" indent="0" marL="0">
              <a:buNone/>
            </a:pPr>
            <a:r>
              <a:rPr lang="en-US" sz="900" dirty="0">
                <a:solidFill>
                  <a:srgbClr val="D6E4F0"/>
                </a:solidFill>
                <a:latin typeface="Calibri" pitchFamily="34" charset="0"/>
                <a:ea typeface="Calibri" pitchFamily="34" charset="-122"/>
                <a:cs typeface="Calibri" pitchFamily="34" charset="-120"/>
              </a:rPr>
              <a:t>تقارير JSON/CSV مجدوَلة (يومي/أسبوعي/شهري) تُنشَر عبر MQTT تزوّد المشغلين ببيانات التشغيل وعدد الدورات والاتجاهات الإجمالية — طبقة البيانات المطلوبة للصيانة الشرطية (CBM) وفق ISO 13381.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2240"/>
          </a:solidFill>
          <a:ln w="12700">
            <a:solidFill>
              <a:srgbClr val="112240"/>
            </a:solidFill>
            <a:prstDash val="solid"/>
          </a:ln>
        </p:spPr>
      </p:sp>
      <p:sp>
        <p:nvSpPr>
          <p:cNvPr id="3" name="Text 1"/>
          <p:cNvSpPr/>
          <p:nvPr/>
        </p:nvSpPr>
        <p:spPr>
          <a:xfrm>
            <a:off x="457200" y="45720"/>
            <a:ext cx="8229600" cy="777240"/>
          </a:xfrm>
          <a:prstGeom prst="rect">
            <a:avLst/>
          </a:prstGeom>
          <a:noFill/>
          <a:ln/>
        </p:spPr>
        <p:txBody>
          <a:bodyPr wrap="square" rtlCol="0" anchor="ctr"/>
          <a:lstStyle/>
          <a:p>
            <a:pPr algn="r" indent="0" marL="0">
              <a:buNone/>
            </a:pPr>
            <a:r>
              <a:rPr lang="en-US" sz="2600" b="1" dirty="0">
                <a:solidFill>
                  <a:srgbClr val="C9A84C"/>
                </a:solidFill>
                <a:latin typeface="Cambria" pitchFamily="34" charset="0"/>
                <a:ea typeface="Cambria" pitchFamily="34" charset="-122"/>
                <a:cs typeface="Cambria" pitchFamily="34" charset="-120"/>
              </a:rPr>
              <a:t>بنية المُجمِّع</a:t>
            </a:r>
            <a:endParaRPr lang="en-US" sz="2600" dirty="0"/>
          </a:p>
        </p:txBody>
      </p:sp>
      <p:sp>
        <p:nvSpPr>
          <p:cNvPr id="4" name="Shape 2"/>
          <p:cNvSpPr/>
          <p:nvPr/>
        </p:nvSpPr>
        <p:spPr>
          <a:xfrm>
            <a:off x="1938528" y="987552"/>
            <a:ext cx="1572768" cy="329184"/>
          </a:xfrm>
          <a:prstGeom prst="roundRect">
            <a:avLst>
              <a:gd name="adj" fmla="val 13889"/>
            </a:avLst>
          </a:prstGeom>
          <a:solidFill>
            <a:srgbClr val="C9A84C"/>
          </a:solidFill>
          <a:ln w="12700">
            <a:solidFill>
              <a:srgbClr val="C9A84C"/>
            </a:solidFill>
            <a:prstDash val="solid"/>
          </a:ln>
          <a:effectLst>
            <a:outerShdw sx="100000" sy="100000" kx="0" ky="0" algn="bl" rotWithShape="0" blurRad="101600" dist="25400" dir="2700000">
              <a:srgbClr val="000000">
                <a:alpha val="22000"/>
              </a:srgbClr>
            </a:outerShdw>
          </a:effectLst>
        </p:spPr>
      </p:sp>
      <p:sp>
        <p:nvSpPr>
          <p:cNvPr id="5" name="Text 3"/>
          <p:cNvSpPr/>
          <p:nvPr/>
        </p:nvSpPr>
        <p:spPr>
          <a:xfrm>
            <a:off x="1938528" y="987552"/>
            <a:ext cx="1572768" cy="329184"/>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مُجمِّع ميزان</a:t>
            </a:r>
            <a:endParaRPr lang="en-US" sz="1050" dirty="0"/>
          </a:p>
        </p:txBody>
      </p:sp>
      <p:sp>
        <p:nvSpPr>
          <p:cNvPr id="6" name="Shape 4"/>
          <p:cNvSpPr/>
          <p:nvPr/>
        </p:nvSpPr>
        <p:spPr>
          <a:xfrm>
            <a:off x="256032" y="1581912"/>
            <a:ext cx="1572768" cy="329184"/>
          </a:xfrm>
          <a:prstGeom prst="roundRect">
            <a:avLst>
              <a:gd name="adj" fmla="val 13889"/>
            </a:avLst>
          </a:prstGeom>
          <a:solidFill>
            <a:srgbClr val="112240"/>
          </a:solidFill>
          <a:ln w="9525">
            <a:solidFill>
              <a:srgbClr val="1A3A5C"/>
            </a:solidFill>
            <a:prstDash val="solid"/>
          </a:ln>
        </p:spPr>
      </p:sp>
      <p:sp>
        <p:nvSpPr>
          <p:cNvPr id="7" name="Text 5"/>
          <p:cNvSpPr/>
          <p:nvPr/>
        </p:nvSpPr>
        <p:spPr>
          <a:xfrm>
            <a:off x="256032" y="158191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الواجهة الأمامية</a:t>
            </a:r>
            <a:endParaRPr lang="en-US" sz="900" dirty="0"/>
          </a:p>
        </p:txBody>
      </p:sp>
      <p:sp>
        <p:nvSpPr>
          <p:cNvPr id="8" name="Shape 6"/>
          <p:cNvSpPr/>
          <p:nvPr/>
        </p:nvSpPr>
        <p:spPr>
          <a:xfrm>
            <a:off x="2724912" y="1316736"/>
            <a:ext cx="0" cy="132588"/>
          </a:xfrm>
          <a:prstGeom prst="line">
            <a:avLst/>
          </a:prstGeom>
          <a:noFill/>
          <a:ln w="10160">
            <a:solidFill>
              <a:srgbClr val="E8C87A"/>
            </a:solidFill>
            <a:prstDash val="solid"/>
          </a:ln>
        </p:spPr>
      </p:sp>
      <p:sp>
        <p:nvSpPr>
          <p:cNvPr id="9" name="Shape 7"/>
          <p:cNvSpPr/>
          <p:nvPr/>
        </p:nvSpPr>
        <p:spPr>
          <a:xfrm>
            <a:off x="1042416" y="1449324"/>
            <a:ext cx="1682496" cy="0"/>
          </a:xfrm>
          <a:prstGeom prst="line">
            <a:avLst/>
          </a:prstGeom>
          <a:noFill/>
          <a:ln w="10160">
            <a:solidFill>
              <a:srgbClr val="E8C87A"/>
            </a:solidFill>
            <a:prstDash val="solid"/>
          </a:ln>
        </p:spPr>
      </p:sp>
      <p:sp>
        <p:nvSpPr>
          <p:cNvPr id="10" name="Shape 8"/>
          <p:cNvSpPr/>
          <p:nvPr/>
        </p:nvSpPr>
        <p:spPr>
          <a:xfrm>
            <a:off x="1042416" y="1449324"/>
            <a:ext cx="0" cy="132588"/>
          </a:xfrm>
          <a:prstGeom prst="line">
            <a:avLst/>
          </a:prstGeom>
          <a:noFill/>
          <a:ln w="10160">
            <a:solidFill>
              <a:srgbClr val="E8C87A"/>
            </a:solidFill>
            <a:prstDash val="solid"/>
          </a:ln>
        </p:spPr>
      </p:sp>
      <p:sp>
        <p:nvSpPr>
          <p:cNvPr id="11" name="Shape 9"/>
          <p:cNvSpPr/>
          <p:nvPr/>
        </p:nvSpPr>
        <p:spPr>
          <a:xfrm>
            <a:off x="1938528" y="1581912"/>
            <a:ext cx="1572768" cy="329184"/>
          </a:xfrm>
          <a:prstGeom prst="roundRect">
            <a:avLst>
              <a:gd name="adj" fmla="val 13889"/>
            </a:avLst>
          </a:prstGeom>
          <a:solidFill>
            <a:srgbClr val="112240"/>
          </a:solidFill>
          <a:ln w="9525">
            <a:solidFill>
              <a:srgbClr val="1A3A5C"/>
            </a:solidFill>
            <a:prstDash val="solid"/>
          </a:ln>
        </p:spPr>
      </p:sp>
      <p:sp>
        <p:nvSpPr>
          <p:cNvPr id="12" name="Text 10"/>
          <p:cNvSpPr/>
          <p:nvPr/>
        </p:nvSpPr>
        <p:spPr>
          <a:xfrm>
            <a:off x="1938528" y="158191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التحليل الدلالي</a:t>
            </a:r>
            <a:endParaRPr lang="en-US" sz="900" dirty="0"/>
          </a:p>
        </p:txBody>
      </p:sp>
      <p:sp>
        <p:nvSpPr>
          <p:cNvPr id="13" name="Shape 11"/>
          <p:cNvSpPr/>
          <p:nvPr/>
        </p:nvSpPr>
        <p:spPr>
          <a:xfrm>
            <a:off x="2724912" y="1316736"/>
            <a:ext cx="0" cy="132588"/>
          </a:xfrm>
          <a:prstGeom prst="line">
            <a:avLst/>
          </a:prstGeom>
          <a:noFill/>
          <a:ln w="10160">
            <a:solidFill>
              <a:srgbClr val="E8C87A"/>
            </a:solidFill>
            <a:prstDash val="solid"/>
          </a:ln>
        </p:spPr>
      </p:sp>
      <p:sp>
        <p:nvSpPr>
          <p:cNvPr id="14" name="Shape 12"/>
          <p:cNvSpPr/>
          <p:nvPr/>
        </p:nvSpPr>
        <p:spPr>
          <a:xfrm>
            <a:off x="2724912" y="1449324"/>
            <a:ext cx="0" cy="132588"/>
          </a:xfrm>
          <a:prstGeom prst="line">
            <a:avLst/>
          </a:prstGeom>
          <a:noFill/>
          <a:ln w="10160">
            <a:solidFill>
              <a:srgbClr val="E8C87A"/>
            </a:solidFill>
            <a:prstDash val="solid"/>
          </a:ln>
        </p:spPr>
      </p:sp>
      <p:sp>
        <p:nvSpPr>
          <p:cNvPr id="15" name="Shape 13"/>
          <p:cNvSpPr/>
          <p:nvPr/>
        </p:nvSpPr>
        <p:spPr>
          <a:xfrm>
            <a:off x="3621024" y="1581912"/>
            <a:ext cx="1572768" cy="329184"/>
          </a:xfrm>
          <a:prstGeom prst="roundRect">
            <a:avLst>
              <a:gd name="adj" fmla="val 13889"/>
            </a:avLst>
          </a:prstGeom>
          <a:solidFill>
            <a:srgbClr val="112240"/>
          </a:solidFill>
          <a:ln w="9525">
            <a:solidFill>
              <a:srgbClr val="1A3A5C"/>
            </a:solidFill>
            <a:prstDash val="solid"/>
          </a:ln>
        </p:spPr>
      </p:sp>
      <p:sp>
        <p:nvSpPr>
          <p:cNvPr id="16" name="Text 14"/>
          <p:cNvSpPr/>
          <p:nvPr/>
        </p:nvSpPr>
        <p:spPr>
          <a:xfrm>
            <a:off x="3621024" y="158191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الواجهة الخلفية</a:t>
            </a:r>
            <a:endParaRPr lang="en-US" sz="900" dirty="0"/>
          </a:p>
        </p:txBody>
      </p:sp>
      <p:sp>
        <p:nvSpPr>
          <p:cNvPr id="17" name="Shape 15"/>
          <p:cNvSpPr/>
          <p:nvPr/>
        </p:nvSpPr>
        <p:spPr>
          <a:xfrm>
            <a:off x="2724912" y="1316736"/>
            <a:ext cx="0" cy="132588"/>
          </a:xfrm>
          <a:prstGeom prst="line">
            <a:avLst/>
          </a:prstGeom>
          <a:noFill/>
          <a:ln w="10160">
            <a:solidFill>
              <a:srgbClr val="E8C87A"/>
            </a:solidFill>
            <a:prstDash val="solid"/>
          </a:ln>
        </p:spPr>
      </p:sp>
      <p:sp>
        <p:nvSpPr>
          <p:cNvPr id="18" name="Shape 16"/>
          <p:cNvSpPr/>
          <p:nvPr/>
        </p:nvSpPr>
        <p:spPr>
          <a:xfrm>
            <a:off x="2724912" y="1449324"/>
            <a:ext cx="1682496" cy="0"/>
          </a:xfrm>
          <a:prstGeom prst="line">
            <a:avLst/>
          </a:prstGeom>
          <a:noFill/>
          <a:ln w="10160">
            <a:solidFill>
              <a:srgbClr val="E8C87A"/>
            </a:solidFill>
            <a:prstDash val="solid"/>
          </a:ln>
        </p:spPr>
      </p:sp>
      <p:sp>
        <p:nvSpPr>
          <p:cNvPr id="19" name="Shape 17"/>
          <p:cNvSpPr/>
          <p:nvPr/>
        </p:nvSpPr>
        <p:spPr>
          <a:xfrm>
            <a:off x="4407408" y="1449324"/>
            <a:ext cx="0" cy="132588"/>
          </a:xfrm>
          <a:prstGeom prst="line">
            <a:avLst/>
          </a:prstGeom>
          <a:noFill/>
          <a:ln w="10160">
            <a:solidFill>
              <a:srgbClr val="E8C87A"/>
            </a:solidFill>
            <a:prstDash val="solid"/>
          </a:ln>
        </p:spPr>
      </p:sp>
      <p:sp>
        <p:nvSpPr>
          <p:cNvPr id="20" name="Shape 18"/>
          <p:cNvSpPr/>
          <p:nvPr/>
        </p:nvSpPr>
        <p:spPr>
          <a:xfrm>
            <a:off x="256032" y="2176272"/>
            <a:ext cx="1572768" cy="329184"/>
          </a:xfrm>
          <a:prstGeom prst="roundRect">
            <a:avLst>
              <a:gd name="adj" fmla="val 13889"/>
            </a:avLst>
          </a:prstGeom>
          <a:solidFill>
            <a:srgbClr val="112240"/>
          </a:solidFill>
          <a:ln w="9525">
            <a:solidFill>
              <a:srgbClr val="1A3A5C"/>
            </a:solidFill>
            <a:prstDash val="solid"/>
          </a:ln>
        </p:spPr>
      </p:sp>
      <p:sp>
        <p:nvSpPr>
          <p:cNvPr id="21" name="Text 19"/>
          <p:cNvSpPr/>
          <p:nvPr/>
        </p:nvSpPr>
        <p:spPr>
          <a:xfrm>
            <a:off x="256032" y="217627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قواعد Mizan.g4</a:t>
            </a:r>
            <a:endParaRPr lang="en-US" sz="900" dirty="0"/>
          </a:p>
        </p:txBody>
      </p:sp>
      <p:sp>
        <p:nvSpPr>
          <p:cNvPr id="22" name="Shape 20"/>
          <p:cNvSpPr/>
          <p:nvPr/>
        </p:nvSpPr>
        <p:spPr>
          <a:xfrm>
            <a:off x="1042416" y="1911096"/>
            <a:ext cx="0" cy="132588"/>
          </a:xfrm>
          <a:prstGeom prst="line">
            <a:avLst/>
          </a:prstGeom>
          <a:noFill/>
          <a:ln w="10160">
            <a:solidFill>
              <a:srgbClr val="E8C87A"/>
            </a:solidFill>
            <a:prstDash val="solid"/>
          </a:ln>
        </p:spPr>
      </p:sp>
      <p:sp>
        <p:nvSpPr>
          <p:cNvPr id="23" name="Shape 21"/>
          <p:cNvSpPr/>
          <p:nvPr/>
        </p:nvSpPr>
        <p:spPr>
          <a:xfrm>
            <a:off x="1042416" y="2043684"/>
            <a:ext cx="0" cy="132588"/>
          </a:xfrm>
          <a:prstGeom prst="line">
            <a:avLst/>
          </a:prstGeom>
          <a:noFill/>
          <a:ln w="10160">
            <a:solidFill>
              <a:srgbClr val="E8C87A"/>
            </a:solidFill>
            <a:prstDash val="solid"/>
          </a:ln>
        </p:spPr>
      </p:sp>
      <p:sp>
        <p:nvSpPr>
          <p:cNvPr id="24" name="Shape 22"/>
          <p:cNvSpPr/>
          <p:nvPr/>
        </p:nvSpPr>
        <p:spPr>
          <a:xfrm>
            <a:off x="1938528" y="2176272"/>
            <a:ext cx="1572768" cy="329184"/>
          </a:xfrm>
          <a:prstGeom prst="roundRect">
            <a:avLst>
              <a:gd name="adj" fmla="val 13889"/>
            </a:avLst>
          </a:prstGeom>
          <a:solidFill>
            <a:srgbClr val="112240"/>
          </a:solidFill>
          <a:ln w="9525">
            <a:solidFill>
              <a:srgbClr val="1A3A5C"/>
            </a:solidFill>
            <a:prstDash val="solid"/>
          </a:ln>
        </p:spPr>
      </p:sp>
      <p:sp>
        <p:nvSpPr>
          <p:cNvPr id="25" name="Text 23"/>
          <p:cNvSpPr/>
          <p:nvPr/>
        </p:nvSpPr>
        <p:spPr>
          <a:xfrm>
            <a:off x="1938528" y="217627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بانٍ لشجرة AST</a:t>
            </a:r>
            <a:endParaRPr lang="en-US" sz="900" dirty="0"/>
          </a:p>
        </p:txBody>
      </p:sp>
      <p:sp>
        <p:nvSpPr>
          <p:cNvPr id="26" name="Shape 24"/>
          <p:cNvSpPr/>
          <p:nvPr/>
        </p:nvSpPr>
        <p:spPr>
          <a:xfrm>
            <a:off x="2724912" y="1911096"/>
            <a:ext cx="0" cy="132588"/>
          </a:xfrm>
          <a:prstGeom prst="line">
            <a:avLst/>
          </a:prstGeom>
          <a:noFill/>
          <a:ln w="10160">
            <a:solidFill>
              <a:srgbClr val="E8C87A"/>
            </a:solidFill>
            <a:prstDash val="solid"/>
          </a:ln>
        </p:spPr>
      </p:sp>
      <p:sp>
        <p:nvSpPr>
          <p:cNvPr id="27" name="Shape 25"/>
          <p:cNvSpPr/>
          <p:nvPr/>
        </p:nvSpPr>
        <p:spPr>
          <a:xfrm>
            <a:off x="2724912" y="2043684"/>
            <a:ext cx="0" cy="132588"/>
          </a:xfrm>
          <a:prstGeom prst="line">
            <a:avLst/>
          </a:prstGeom>
          <a:noFill/>
          <a:ln w="10160">
            <a:solidFill>
              <a:srgbClr val="E8C87A"/>
            </a:solidFill>
            <a:prstDash val="solid"/>
          </a:ln>
        </p:spPr>
      </p:sp>
      <p:sp>
        <p:nvSpPr>
          <p:cNvPr id="28" name="Shape 26"/>
          <p:cNvSpPr/>
          <p:nvPr/>
        </p:nvSpPr>
        <p:spPr>
          <a:xfrm>
            <a:off x="3621024" y="2176272"/>
            <a:ext cx="1572768" cy="329184"/>
          </a:xfrm>
          <a:prstGeom prst="roundRect">
            <a:avLst>
              <a:gd name="adj" fmla="val 13889"/>
            </a:avLst>
          </a:prstGeom>
          <a:solidFill>
            <a:srgbClr val="112240"/>
          </a:solidFill>
          <a:ln w="9525">
            <a:solidFill>
              <a:srgbClr val="1A3A5C"/>
            </a:solidFill>
            <a:prstDash val="solid"/>
          </a:ln>
        </p:spPr>
      </p:sp>
      <p:sp>
        <p:nvSpPr>
          <p:cNvPr id="29" name="Text 27"/>
          <p:cNvSpPr/>
          <p:nvPr/>
        </p:nvSpPr>
        <p:spPr>
          <a:xfrm>
            <a:off x="3621024" y="217627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مولِّد LLVM IR</a:t>
            </a:r>
            <a:endParaRPr lang="en-US" sz="900" dirty="0"/>
          </a:p>
        </p:txBody>
      </p:sp>
      <p:sp>
        <p:nvSpPr>
          <p:cNvPr id="30" name="Shape 28"/>
          <p:cNvSpPr/>
          <p:nvPr/>
        </p:nvSpPr>
        <p:spPr>
          <a:xfrm>
            <a:off x="4407408" y="1911096"/>
            <a:ext cx="0" cy="132588"/>
          </a:xfrm>
          <a:prstGeom prst="line">
            <a:avLst/>
          </a:prstGeom>
          <a:noFill/>
          <a:ln w="10160">
            <a:solidFill>
              <a:srgbClr val="E8C87A"/>
            </a:solidFill>
            <a:prstDash val="solid"/>
          </a:ln>
        </p:spPr>
      </p:sp>
      <p:sp>
        <p:nvSpPr>
          <p:cNvPr id="31" name="Shape 29"/>
          <p:cNvSpPr/>
          <p:nvPr/>
        </p:nvSpPr>
        <p:spPr>
          <a:xfrm>
            <a:off x="4407408" y="2043684"/>
            <a:ext cx="0" cy="132588"/>
          </a:xfrm>
          <a:prstGeom prst="line">
            <a:avLst/>
          </a:prstGeom>
          <a:noFill/>
          <a:ln w="10160">
            <a:solidFill>
              <a:srgbClr val="E8C87A"/>
            </a:solidFill>
            <a:prstDash val="solid"/>
          </a:ln>
        </p:spPr>
      </p:sp>
      <p:sp>
        <p:nvSpPr>
          <p:cNvPr id="32" name="Shape 30"/>
          <p:cNvSpPr/>
          <p:nvPr/>
        </p:nvSpPr>
        <p:spPr>
          <a:xfrm>
            <a:off x="256032" y="2770632"/>
            <a:ext cx="1572768" cy="329184"/>
          </a:xfrm>
          <a:prstGeom prst="roundRect">
            <a:avLst>
              <a:gd name="adj" fmla="val 13889"/>
            </a:avLst>
          </a:prstGeom>
          <a:solidFill>
            <a:srgbClr val="112240"/>
          </a:solidFill>
          <a:ln w="9525">
            <a:solidFill>
              <a:srgbClr val="1A3A5C"/>
            </a:solidFill>
            <a:prstDash val="solid"/>
          </a:ln>
        </p:spPr>
      </p:sp>
      <p:sp>
        <p:nvSpPr>
          <p:cNvPr id="33" name="Text 31"/>
          <p:cNvSpPr/>
          <p:nvPr/>
        </p:nvSpPr>
        <p:spPr>
          <a:xfrm>
            <a:off x="256032" y="277063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مُحلِّل ANTLR4</a:t>
            </a:r>
            <a:endParaRPr lang="en-US" sz="900" dirty="0"/>
          </a:p>
        </p:txBody>
      </p:sp>
      <p:sp>
        <p:nvSpPr>
          <p:cNvPr id="34" name="Shape 32"/>
          <p:cNvSpPr/>
          <p:nvPr/>
        </p:nvSpPr>
        <p:spPr>
          <a:xfrm>
            <a:off x="1042416" y="2505456"/>
            <a:ext cx="0" cy="132588"/>
          </a:xfrm>
          <a:prstGeom prst="line">
            <a:avLst/>
          </a:prstGeom>
          <a:noFill/>
          <a:ln w="10160">
            <a:solidFill>
              <a:srgbClr val="E8C87A"/>
            </a:solidFill>
            <a:prstDash val="solid"/>
          </a:ln>
        </p:spPr>
      </p:sp>
      <p:sp>
        <p:nvSpPr>
          <p:cNvPr id="35" name="Shape 33"/>
          <p:cNvSpPr/>
          <p:nvPr/>
        </p:nvSpPr>
        <p:spPr>
          <a:xfrm>
            <a:off x="1042416" y="2638044"/>
            <a:ext cx="0" cy="132588"/>
          </a:xfrm>
          <a:prstGeom prst="line">
            <a:avLst/>
          </a:prstGeom>
          <a:noFill/>
          <a:ln w="10160">
            <a:solidFill>
              <a:srgbClr val="E8C87A"/>
            </a:solidFill>
            <a:prstDash val="solid"/>
          </a:ln>
        </p:spPr>
      </p:sp>
      <p:sp>
        <p:nvSpPr>
          <p:cNvPr id="36" name="Shape 34"/>
          <p:cNvSpPr/>
          <p:nvPr/>
        </p:nvSpPr>
        <p:spPr>
          <a:xfrm>
            <a:off x="1938528" y="2770632"/>
            <a:ext cx="1572768" cy="329184"/>
          </a:xfrm>
          <a:prstGeom prst="roundRect">
            <a:avLst>
              <a:gd name="adj" fmla="val 13889"/>
            </a:avLst>
          </a:prstGeom>
          <a:solidFill>
            <a:srgbClr val="112240"/>
          </a:solidFill>
          <a:ln w="9525">
            <a:solidFill>
              <a:srgbClr val="1A3A5C"/>
            </a:solidFill>
            <a:prstDash val="solid"/>
          </a:ln>
        </p:spPr>
      </p:sp>
      <p:sp>
        <p:nvSpPr>
          <p:cNvPr id="37" name="Text 35"/>
          <p:cNvSpPr/>
          <p:nvPr/>
        </p:nvSpPr>
        <p:spPr>
          <a:xfrm>
            <a:off x="1938528" y="277063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مُحلِّل دلالي</a:t>
            </a:r>
            <a:endParaRPr lang="en-US" sz="900" dirty="0"/>
          </a:p>
        </p:txBody>
      </p:sp>
      <p:sp>
        <p:nvSpPr>
          <p:cNvPr id="38" name="Shape 36"/>
          <p:cNvSpPr/>
          <p:nvPr/>
        </p:nvSpPr>
        <p:spPr>
          <a:xfrm>
            <a:off x="2724912" y="2505456"/>
            <a:ext cx="0" cy="132588"/>
          </a:xfrm>
          <a:prstGeom prst="line">
            <a:avLst/>
          </a:prstGeom>
          <a:noFill/>
          <a:ln w="10160">
            <a:solidFill>
              <a:srgbClr val="E8C87A"/>
            </a:solidFill>
            <a:prstDash val="solid"/>
          </a:ln>
        </p:spPr>
      </p:sp>
      <p:sp>
        <p:nvSpPr>
          <p:cNvPr id="39" name="Shape 37"/>
          <p:cNvSpPr/>
          <p:nvPr/>
        </p:nvSpPr>
        <p:spPr>
          <a:xfrm>
            <a:off x="2724912" y="2638044"/>
            <a:ext cx="0" cy="132588"/>
          </a:xfrm>
          <a:prstGeom prst="line">
            <a:avLst/>
          </a:prstGeom>
          <a:noFill/>
          <a:ln w="10160">
            <a:solidFill>
              <a:srgbClr val="E8C87A"/>
            </a:solidFill>
            <a:prstDash val="solid"/>
          </a:ln>
        </p:spPr>
      </p:sp>
      <p:sp>
        <p:nvSpPr>
          <p:cNvPr id="40" name="Shape 38"/>
          <p:cNvSpPr/>
          <p:nvPr/>
        </p:nvSpPr>
        <p:spPr>
          <a:xfrm>
            <a:off x="3621024" y="2770632"/>
            <a:ext cx="1572768" cy="329184"/>
          </a:xfrm>
          <a:prstGeom prst="roundRect">
            <a:avLst>
              <a:gd name="adj" fmla="val 13889"/>
            </a:avLst>
          </a:prstGeom>
          <a:solidFill>
            <a:srgbClr val="112240"/>
          </a:solidFill>
          <a:ln w="9525">
            <a:solidFill>
              <a:srgbClr val="1A3A5C"/>
            </a:solidFill>
            <a:prstDash val="solid"/>
          </a:ln>
        </p:spPr>
      </p:sp>
      <p:sp>
        <p:nvSpPr>
          <p:cNvPr id="41" name="Text 39"/>
          <p:cNvSpPr/>
          <p:nvPr/>
        </p:nvSpPr>
        <p:spPr>
          <a:xfrm>
            <a:off x="3621024" y="277063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مُحسِّن (PassMgr)</a:t>
            </a:r>
            <a:endParaRPr lang="en-US" sz="900" dirty="0"/>
          </a:p>
        </p:txBody>
      </p:sp>
      <p:sp>
        <p:nvSpPr>
          <p:cNvPr id="42" name="Shape 40"/>
          <p:cNvSpPr/>
          <p:nvPr/>
        </p:nvSpPr>
        <p:spPr>
          <a:xfrm>
            <a:off x="4407408" y="2505456"/>
            <a:ext cx="0" cy="132588"/>
          </a:xfrm>
          <a:prstGeom prst="line">
            <a:avLst/>
          </a:prstGeom>
          <a:noFill/>
          <a:ln w="10160">
            <a:solidFill>
              <a:srgbClr val="E8C87A"/>
            </a:solidFill>
            <a:prstDash val="solid"/>
          </a:ln>
        </p:spPr>
      </p:sp>
      <p:sp>
        <p:nvSpPr>
          <p:cNvPr id="43" name="Shape 41"/>
          <p:cNvSpPr/>
          <p:nvPr/>
        </p:nvSpPr>
        <p:spPr>
          <a:xfrm>
            <a:off x="4407408" y="2638044"/>
            <a:ext cx="0" cy="132588"/>
          </a:xfrm>
          <a:prstGeom prst="line">
            <a:avLst/>
          </a:prstGeom>
          <a:noFill/>
          <a:ln w="10160">
            <a:solidFill>
              <a:srgbClr val="E8C87A"/>
            </a:solidFill>
            <a:prstDash val="solid"/>
          </a:ln>
        </p:spPr>
      </p:sp>
      <p:sp>
        <p:nvSpPr>
          <p:cNvPr id="44" name="Shape 42"/>
          <p:cNvSpPr/>
          <p:nvPr/>
        </p:nvSpPr>
        <p:spPr>
          <a:xfrm>
            <a:off x="256032" y="3364992"/>
            <a:ext cx="1572768" cy="329184"/>
          </a:xfrm>
          <a:prstGeom prst="roundRect">
            <a:avLst>
              <a:gd name="adj" fmla="val 13889"/>
            </a:avLst>
          </a:prstGeom>
          <a:solidFill>
            <a:srgbClr val="112240"/>
          </a:solidFill>
          <a:ln w="9525">
            <a:solidFill>
              <a:srgbClr val="1A3A5C"/>
            </a:solidFill>
            <a:prstDash val="solid"/>
          </a:ln>
        </p:spPr>
      </p:sp>
      <p:sp>
        <p:nvSpPr>
          <p:cNvPr id="45" name="Text 43"/>
          <p:cNvSpPr/>
          <p:nvPr/>
        </p:nvSpPr>
        <p:spPr>
          <a:xfrm>
            <a:off x="256032" y="336499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مستمع الأخطاء</a:t>
            </a:r>
            <a:endParaRPr lang="en-US" sz="900" dirty="0"/>
          </a:p>
        </p:txBody>
      </p:sp>
      <p:sp>
        <p:nvSpPr>
          <p:cNvPr id="46" name="Shape 44"/>
          <p:cNvSpPr/>
          <p:nvPr/>
        </p:nvSpPr>
        <p:spPr>
          <a:xfrm>
            <a:off x="1042416" y="3099816"/>
            <a:ext cx="0" cy="132588"/>
          </a:xfrm>
          <a:prstGeom prst="line">
            <a:avLst/>
          </a:prstGeom>
          <a:noFill/>
          <a:ln w="10160">
            <a:solidFill>
              <a:srgbClr val="E8C87A"/>
            </a:solidFill>
            <a:prstDash val="solid"/>
          </a:ln>
        </p:spPr>
      </p:sp>
      <p:sp>
        <p:nvSpPr>
          <p:cNvPr id="47" name="Shape 45"/>
          <p:cNvSpPr/>
          <p:nvPr/>
        </p:nvSpPr>
        <p:spPr>
          <a:xfrm>
            <a:off x="1042416" y="3232404"/>
            <a:ext cx="0" cy="132588"/>
          </a:xfrm>
          <a:prstGeom prst="line">
            <a:avLst/>
          </a:prstGeom>
          <a:noFill/>
          <a:ln w="10160">
            <a:solidFill>
              <a:srgbClr val="E8C87A"/>
            </a:solidFill>
            <a:prstDash val="solid"/>
          </a:ln>
        </p:spPr>
      </p:sp>
      <p:sp>
        <p:nvSpPr>
          <p:cNvPr id="48" name="Shape 46"/>
          <p:cNvSpPr/>
          <p:nvPr/>
        </p:nvSpPr>
        <p:spPr>
          <a:xfrm>
            <a:off x="1938528" y="3364992"/>
            <a:ext cx="1572768" cy="329184"/>
          </a:xfrm>
          <a:prstGeom prst="roundRect">
            <a:avLst>
              <a:gd name="adj" fmla="val 13889"/>
            </a:avLst>
          </a:prstGeom>
          <a:solidFill>
            <a:srgbClr val="112240"/>
          </a:solidFill>
          <a:ln w="9525">
            <a:solidFill>
              <a:srgbClr val="1A3A5C"/>
            </a:solidFill>
            <a:prstDash val="solid"/>
          </a:ln>
        </p:spPr>
      </p:sp>
      <p:sp>
        <p:nvSpPr>
          <p:cNvPr id="49" name="Text 47"/>
          <p:cNvSpPr/>
          <p:nvPr/>
        </p:nvSpPr>
        <p:spPr>
          <a:xfrm>
            <a:off x="1938528" y="336499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نظام الأنواع والوحدات</a:t>
            </a:r>
            <a:endParaRPr lang="en-US" sz="900" dirty="0"/>
          </a:p>
        </p:txBody>
      </p:sp>
      <p:sp>
        <p:nvSpPr>
          <p:cNvPr id="50" name="Shape 48"/>
          <p:cNvSpPr/>
          <p:nvPr/>
        </p:nvSpPr>
        <p:spPr>
          <a:xfrm>
            <a:off x="2724912" y="3099816"/>
            <a:ext cx="0" cy="132588"/>
          </a:xfrm>
          <a:prstGeom prst="line">
            <a:avLst/>
          </a:prstGeom>
          <a:noFill/>
          <a:ln w="10160">
            <a:solidFill>
              <a:srgbClr val="E8C87A"/>
            </a:solidFill>
            <a:prstDash val="solid"/>
          </a:ln>
        </p:spPr>
      </p:sp>
      <p:sp>
        <p:nvSpPr>
          <p:cNvPr id="51" name="Shape 49"/>
          <p:cNvSpPr/>
          <p:nvPr/>
        </p:nvSpPr>
        <p:spPr>
          <a:xfrm>
            <a:off x="2724912" y="3232404"/>
            <a:ext cx="0" cy="132588"/>
          </a:xfrm>
          <a:prstGeom prst="line">
            <a:avLst/>
          </a:prstGeom>
          <a:noFill/>
          <a:ln w="10160">
            <a:solidFill>
              <a:srgbClr val="E8C87A"/>
            </a:solidFill>
            <a:prstDash val="solid"/>
          </a:ln>
        </p:spPr>
      </p:sp>
      <p:sp>
        <p:nvSpPr>
          <p:cNvPr id="52" name="Shape 50"/>
          <p:cNvSpPr/>
          <p:nvPr/>
        </p:nvSpPr>
        <p:spPr>
          <a:xfrm>
            <a:off x="3621024" y="3364992"/>
            <a:ext cx="1572768" cy="329184"/>
          </a:xfrm>
          <a:prstGeom prst="roundRect">
            <a:avLst>
              <a:gd name="adj" fmla="val 13889"/>
            </a:avLst>
          </a:prstGeom>
          <a:solidFill>
            <a:srgbClr val="112240"/>
          </a:solidFill>
          <a:ln w="9525">
            <a:solidFill>
              <a:srgbClr val="1A3A5C"/>
            </a:solidFill>
            <a:prstDash val="solid"/>
          </a:ln>
        </p:spPr>
      </p:sp>
      <p:sp>
        <p:nvSpPr>
          <p:cNvPr id="53" name="Text 51"/>
          <p:cNvSpPr/>
          <p:nvPr/>
        </p:nvSpPr>
        <p:spPr>
          <a:xfrm>
            <a:off x="3621024" y="3364992"/>
            <a:ext cx="1572768" cy="329184"/>
          </a:xfrm>
          <a:prstGeom prst="rect">
            <a:avLst/>
          </a:prstGeom>
          <a:noFill/>
          <a:ln/>
        </p:spPr>
        <p:txBody>
          <a:bodyPr wrap="square" rtlCol="0" anchor="ctr"/>
          <a:lstStyle/>
          <a:p>
            <a:pPr algn="ctr" indent="0" marL="0">
              <a:buNone/>
            </a:pPr>
            <a:r>
              <a:rPr lang="en-US" sz="900" dirty="0">
                <a:solidFill>
                  <a:srgbClr val="E8C87A"/>
                </a:solidFill>
                <a:latin typeface="Calibri" pitchFamily="34" charset="0"/>
                <a:ea typeface="Calibri" pitchFamily="34" charset="-122"/>
                <a:cs typeface="Calibri" pitchFamily="34" charset="-120"/>
              </a:rPr>
              <a:t>رابط + وقت التشغيل</a:t>
            </a:r>
            <a:endParaRPr lang="en-US" sz="900" dirty="0"/>
          </a:p>
        </p:txBody>
      </p:sp>
      <p:sp>
        <p:nvSpPr>
          <p:cNvPr id="54" name="Shape 52"/>
          <p:cNvSpPr/>
          <p:nvPr/>
        </p:nvSpPr>
        <p:spPr>
          <a:xfrm>
            <a:off x="4407408" y="3099816"/>
            <a:ext cx="0" cy="132588"/>
          </a:xfrm>
          <a:prstGeom prst="line">
            <a:avLst/>
          </a:prstGeom>
          <a:noFill/>
          <a:ln w="10160">
            <a:solidFill>
              <a:srgbClr val="E8C87A"/>
            </a:solidFill>
            <a:prstDash val="solid"/>
          </a:ln>
        </p:spPr>
      </p:sp>
      <p:sp>
        <p:nvSpPr>
          <p:cNvPr id="55" name="Shape 53"/>
          <p:cNvSpPr/>
          <p:nvPr/>
        </p:nvSpPr>
        <p:spPr>
          <a:xfrm>
            <a:off x="4407408" y="3232404"/>
            <a:ext cx="0" cy="132588"/>
          </a:xfrm>
          <a:prstGeom prst="line">
            <a:avLst/>
          </a:prstGeom>
          <a:noFill/>
          <a:ln w="10160">
            <a:solidFill>
              <a:srgbClr val="E8C87A"/>
            </a:solidFill>
            <a:prstDash val="solid"/>
          </a:ln>
        </p:spPr>
      </p:sp>
      <p:sp>
        <p:nvSpPr>
          <p:cNvPr id="56" name="Text 54"/>
          <p:cNvSpPr/>
          <p:nvPr/>
        </p:nvSpPr>
        <p:spPr>
          <a:xfrm>
            <a:off x="256032" y="3959352"/>
            <a:ext cx="5074920" cy="237744"/>
          </a:xfrm>
          <a:prstGeom prst="rect">
            <a:avLst/>
          </a:prstGeom>
          <a:noFill/>
          <a:ln/>
        </p:spPr>
        <p:txBody>
          <a:bodyPr wrap="square" rtlCol="0" anchor="ctr"/>
          <a:lstStyle/>
          <a:p>
            <a:pPr indent="0" marL="0">
              <a:buNone/>
            </a:pPr>
            <a:r>
              <a:rPr lang="en-US" sz="850" b="1" dirty="0">
                <a:solidFill>
                  <a:srgbClr val="C9A84C"/>
                </a:solidFill>
                <a:latin typeface="Calibri" pitchFamily="34" charset="0"/>
                <a:ea typeface="Calibri" pitchFamily="34" charset="-122"/>
                <a:cs typeface="Calibri" pitchFamily="34" charset="-120"/>
              </a:rPr>
              <a:t>وحدات وقت التشغيل</a:t>
            </a:r>
            <a:endParaRPr lang="en-US" sz="850" dirty="0"/>
          </a:p>
        </p:txBody>
      </p:sp>
      <p:sp>
        <p:nvSpPr>
          <p:cNvPr id="57" name="Shape 55"/>
          <p:cNvSpPr/>
          <p:nvPr/>
        </p:nvSpPr>
        <p:spPr>
          <a:xfrm>
            <a:off x="256032" y="4187952"/>
            <a:ext cx="960120" cy="274320"/>
          </a:xfrm>
          <a:prstGeom prst="roundRect">
            <a:avLst>
              <a:gd name="adj" fmla="val 13333"/>
            </a:avLst>
          </a:prstGeom>
          <a:solidFill>
            <a:srgbClr val="0D1F35"/>
          </a:solidFill>
          <a:ln w="6350">
            <a:solidFill>
              <a:srgbClr val="E8C87A"/>
            </a:solidFill>
            <a:prstDash val="solid"/>
          </a:ln>
        </p:spPr>
      </p:sp>
      <p:sp>
        <p:nvSpPr>
          <p:cNvPr id="58" name="Text 56"/>
          <p:cNvSpPr/>
          <p:nvPr/>
        </p:nvSpPr>
        <p:spPr>
          <a:xfrm>
            <a:off x="256032" y="4187952"/>
            <a:ext cx="960120" cy="274320"/>
          </a:xfrm>
          <a:prstGeom prst="rect">
            <a:avLst/>
          </a:prstGeom>
          <a:noFill/>
          <a:ln/>
        </p:spPr>
        <p:txBody>
          <a:bodyPr wrap="square" rtlCol="0" anchor="ctr"/>
          <a:lstStyle/>
          <a:p>
            <a:pPr algn="ctr" indent="0" marL="0">
              <a:buNone/>
            </a:pPr>
            <a:r>
              <a:rPr lang="en-US" sz="750" dirty="0">
                <a:solidFill>
                  <a:srgbClr val="E8C87A"/>
                </a:solidFill>
                <a:latin typeface="Calibri" pitchFamily="34" charset="0"/>
                <a:ea typeface="Calibri" pitchFamily="34" charset="-122"/>
                <a:cs typeface="Calibri" pitchFamily="34" charset="-120"/>
              </a:rPr>
              <a:t>runtime.c</a:t>
            </a:r>
            <a:endParaRPr lang="en-US" sz="750" dirty="0"/>
          </a:p>
        </p:txBody>
      </p:sp>
      <p:sp>
        <p:nvSpPr>
          <p:cNvPr id="59" name="Shape 57"/>
          <p:cNvSpPr/>
          <p:nvPr/>
        </p:nvSpPr>
        <p:spPr>
          <a:xfrm>
            <a:off x="1271016" y="4187952"/>
            <a:ext cx="960120" cy="274320"/>
          </a:xfrm>
          <a:prstGeom prst="roundRect">
            <a:avLst>
              <a:gd name="adj" fmla="val 13333"/>
            </a:avLst>
          </a:prstGeom>
          <a:solidFill>
            <a:srgbClr val="0D1F35"/>
          </a:solidFill>
          <a:ln w="6350">
            <a:solidFill>
              <a:srgbClr val="E8C87A"/>
            </a:solidFill>
            <a:prstDash val="solid"/>
          </a:ln>
        </p:spPr>
      </p:sp>
      <p:sp>
        <p:nvSpPr>
          <p:cNvPr id="60" name="Text 58"/>
          <p:cNvSpPr/>
          <p:nvPr/>
        </p:nvSpPr>
        <p:spPr>
          <a:xfrm>
            <a:off x="1271016" y="4187952"/>
            <a:ext cx="960120" cy="274320"/>
          </a:xfrm>
          <a:prstGeom prst="rect">
            <a:avLst/>
          </a:prstGeom>
          <a:noFill/>
          <a:ln/>
        </p:spPr>
        <p:txBody>
          <a:bodyPr wrap="square" rtlCol="0" anchor="ctr"/>
          <a:lstStyle/>
          <a:p>
            <a:pPr algn="ctr" indent="0" marL="0">
              <a:buNone/>
            </a:pPr>
            <a:r>
              <a:rPr lang="en-US" sz="750" dirty="0">
                <a:solidFill>
                  <a:srgbClr val="E8C87A"/>
                </a:solidFill>
                <a:latin typeface="Calibri" pitchFamily="34" charset="0"/>
                <a:ea typeface="Calibri" pitchFamily="34" charset="-122"/>
                <a:cs typeface="Calibri" pitchFamily="34" charset="-120"/>
              </a:rPr>
              <a:t>mizan_modbus.c</a:t>
            </a:r>
            <a:endParaRPr lang="en-US" sz="750" dirty="0"/>
          </a:p>
        </p:txBody>
      </p:sp>
      <p:sp>
        <p:nvSpPr>
          <p:cNvPr id="61" name="Shape 59"/>
          <p:cNvSpPr/>
          <p:nvPr/>
        </p:nvSpPr>
        <p:spPr>
          <a:xfrm>
            <a:off x="2286000" y="4187952"/>
            <a:ext cx="960120" cy="274320"/>
          </a:xfrm>
          <a:prstGeom prst="roundRect">
            <a:avLst>
              <a:gd name="adj" fmla="val 13333"/>
            </a:avLst>
          </a:prstGeom>
          <a:solidFill>
            <a:srgbClr val="0D1F35"/>
          </a:solidFill>
          <a:ln w="6350">
            <a:solidFill>
              <a:srgbClr val="E8C87A"/>
            </a:solidFill>
            <a:prstDash val="solid"/>
          </a:ln>
        </p:spPr>
      </p:sp>
      <p:sp>
        <p:nvSpPr>
          <p:cNvPr id="62" name="Text 60"/>
          <p:cNvSpPr/>
          <p:nvPr/>
        </p:nvSpPr>
        <p:spPr>
          <a:xfrm>
            <a:off x="2286000" y="4187952"/>
            <a:ext cx="960120" cy="274320"/>
          </a:xfrm>
          <a:prstGeom prst="rect">
            <a:avLst/>
          </a:prstGeom>
          <a:noFill/>
          <a:ln/>
        </p:spPr>
        <p:txBody>
          <a:bodyPr wrap="square" rtlCol="0" anchor="ctr"/>
          <a:lstStyle/>
          <a:p>
            <a:pPr algn="ctr" indent="0" marL="0">
              <a:buNone/>
            </a:pPr>
            <a:r>
              <a:rPr lang="en-US" sz="750" dirty="0">
                <a:solidFill>
                  <a:srgbClr val="E8C87A"/>
                </a:solidFill>
                <a:latin typeface="Calibri" pitchFamily="34" charset="0"/>
                <a:ea typeface="Calibri" pitchFamily="34" charset="-122"/>
                <a:cs typeface="Calibri" pitchFamily="34" charset="-120"/>
              </a:rPr>
              <a:t>mizan_mqtt.c</a:t>
            </a:r>
            <a:endParaRPr lang="en-US" sz="750" dirty="0"/>
          </a:p>
        </p:txBody>
      </p:sp>
      <p:sp>
        <p:nvSpPr>
          <p:cNvPr id="63" name="Shape 61"/>
          <p:cNvSpPr/>
          <p:nvPr/>
        </p:nvSpPr>
        <p:spPr>
          <a:xfrm>
            <a:off x="3300984" y="4187952"/>
            <a:ext cx="960120" cy="274320"/>
          </a:xfrm>
          <a:prstGeom prst="roundRect">
            <a:avLst>
              <a:gd name="adj" fmla="val 13333"/>
            </a:avLst>
          </a:prstGeom>
          <a:solidFill>
            <a:srgbClr val="0D1F35"/>
          </a:solidFill>
          <a:ln w="6350">
            <a:solidFill>
              <a:srgbClr val="E8C87A"/>
            </a:solidFill>
            <a:prstDash val="solid"/>
          </a:ln>
        </p:spPr>
      </p:sp>
      <p:sp>
        <p:nvSpPr>
          <p:cNvPr id="64" name="Text 62"/>
          <p:cNvSpPr/>
          <p:nvPr/>
        </p:nvSpPr>
        <p:spPr>
          <a:xfrm>
            <a:off x="3300984" y="4187952"/>
            <a:ext cx="960120" cy="274320"/>
          </a:xfrm>
          <a:prstGeom prst="rect">
            <a:avLst/>
          </a:prstGeom>
          <a:noFill/>
          <a:ln/>
        </p:spPr>
        <p:txBody>
          <a:bodyPr wrap="square" rtlCol="0" anchor="ctr"/>
          <a:lstStyle/>
          <a:p>
            <a:pPr algn="ctr" indent="0" marL="0">
              <a:buNone/>
            </a:pPr>
            <a:r>
              <a:rPr lang="en-US" sz="750" dirty="0">
                <a:solidFill>
                  <a:srgbClr val="E8C87A"/>
                </a:solidFill>
                <a:latin typeface="Calibri" pitchFamily="34" charset="0"/>
                <a:ea typeface="Calibri" pitchFamily="34" charset="-122"/>
                <a:cs typeface="Calibri" pitchFamily="34" charset="-120"/>
              </a:rPr>
              <a:t>مُحاكي المنشأة</a:t>
            </a:r>
            <a:endParaRPr lang="en-US" sz="750" dirty="0"/>
          </a:p>
        </p:txBody>
      </p:sp>
      <p:sp>
        <p:nvSpPr>
          <p:cNvPr id="65" name="Shape 63"/>
          <p:cNvSpPr/>
          <p:nvPr/>
        </p:nvSpPr>
        <p:spPr>
          <a:xfrm>
            <a:off x="4315968" y="4187952"/>
            <a:ext cx="960120" cy="274320"/>
          </a:xfrm>
          <a:prstGeom prst="roundRect">
            <a:avLst>
              <a:gd name="adj" fmla="val 13333"/>
            </a:avLst>
          </a:prstGeom>
          <a:solidFill>
            <a:srgbClr val="0D1F35"/>
          </a:solidFill>
          <a:ln w="6350">
            <a:solidFill>
              <a:srgbClr val="E8C87A"/>
            </a:solidFill>
            <a:prstDash val="solid"/>
          </a:ln>
        </p:spPr>
      </p:sp>
      <p:sp>
        <p:nvSpPr>
          <p:cNvPr id="66" name="Text 64"/>
          <p:cNvSpPr/>
          <p:nvPr/>
        </p:nvSpPr>
        <p:spPr>
          <a:xfrm>
            <a:off x="4315968" y="4187952"/>
            <a:ext cx="960120" cy="274320"/>
          </a:xfrm>
          <a:prstGeom prst="rect">
            <a:avLst/>
          </a:prstGeom>
          <a:noFill/>
          <a:ln/>
        </p:spPr>
        <p:txBody>
          <a:bodyPr wrap="square" rtlCol="0" anchor="ctr"/>
          <a:lstStyle/>
          <a:p>
            <a:pPr algn="ctr" indent="0" marL="0">
              <a:buNone/>
            </a:pPr>
            <a:r>
              <a:rPr lang="en-US" sz="750" dirty="0">
                <a:solidFill>
                  <a:srgbClr val="E8C87A"/>
                </a:solidFill>
                <a:latin typeface="Calibri" pitchFamily="34" charset="0"/>
                <a:ea typeface="Calibri" pitchFamily="34" charset="-122"/>
                <a:cs typeface="Calibri" pitchFamily="34" charset="-120"/>
              </a:rPr>
              <a:t>مراقب MQTT</a:t>
            </a:r>
            <a:endParaRPr lang="en-US" sz="750" dirty="0"/>
          </a:p>
        </p:txBody>
      </p:sp>
      <p:sp>
        <p:nvSpPr>
          <p:cNvPr id="67" name="Shape 65"/>
          <p:cNvSpPr/>
          <p:nvPr/>
        </p:nvSpPr>
        <p:spPr>
          <a:xfrm>
            <a:off x="5532120" y="960120"/>
            <a:ext cx="3291840" cy="4005072"/>
          </a:xfrm>
          <a:prstGeom prst="roundRect">
            <a:avLst>
              <a:gd name="adj" fmla="val 1944"/>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68" name="Text 66"/>
          <p:cNvSpPr/>
          <p:nvPr/>
        </p:nvSpPr>
        <p:spPr>
          <a:xfrm>
            <a:off x="5669280" y="1005840"/>
            <a:ext cx="3017520" cy="320040"/>
          </a:xfrm>
          <a:prstGeom prst="rect">
            <a:avLst/>
          </a:prstGeom>
          <a:noFill/>
          <a:ln/>
        </p:spPr>
        <p:txBody>
          <a:bodyPr wrap="square" rtlCol="0" anchor="ctr"/>
          <a:lstStyle/>
          <a:p>
            <a:pPr algn="r" indent="0" marL="0">
              <a:buNone/>
            </a:pPr>
            <a:r>
              <a:rPr lang="en-US" sz="1300" b="1" dirty="0">
                <a:solidFill>
                  <a:srgbClr val="C9A84C"/>
                </a:solidFill>
                <a:latin typeface="Cambria" pitchFamily="34" charset="0"/>
                <a:ea typeface="Cambria" pitchFamily="34" charset="-122"/>
                <a:cs typeface="Cambria" pitchFamily="34" charset="-120"/>
              </a:rPr>
              <a:t>كيف يعمل المُجمِّع؟</a:t>
            </a:r>
            <a:endParaRPr lang="en-US" sz="1300" dirty="0"/>
          </a:p>
        </p:txBody>
      </p:sp>
      <p:sp>
        <p:nvSpPr>
          <p:cNvPr id="69" name="Text 67"/>
          <p:cNvSpPr/>
          <p:nvPr/>
        </p:nvSpPr>
        <p:spPr>
          <a:xfrm>
            <a:off x="5669280" y="1353312"/>
            <a:ext cx="3017520" cy="3511296"/>
          </a:xfrm>
          <a:prstGeom prst="rect">
            <a:avLst/>
          </a:prstGeom>
          <a:noFill/>
          <a:ln/>
        </p:spPr>
        <p:txBody>
          <a:bodyPr wrap="square" rtlCol="0" anchor="t"/>
          <a:lstStyle/>
          <a:p>
            <a:pPr algn="r" indent="0" marL="0">
              <a:buNone/>
            </a:pPr>
            <a:r>
              <a:rPr lang="en-US" sz="900" dirty="0">
                <a:solidFill>
                  <a:srgbClr val="D6E4F0"/>
                </a:solidFill>
                <a:latin typeface="Calibri" pitchFamily="34" charset="0"/>
                <a:ea typeface="Calibri" pitchFamily="34" charset="-122"/>
                <a:cs typeface="Calibri" pitchFamily="34" charset="-120"/>
              </a:rPr>
              <a:t>يُقرأ ملف المصدر (.mizan) ويُعالَج أولاً: تُشطَب التشكيل العربي وتُوحَّد أشكال اليونيكود إلى أحرف قانونية.</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تقوم الواجهة الأمامية (ANTLR4) بالتحليل اللفظي والنحوي وفق قواعد Mizan.g4 الرسمية، مع الإبلاغ عن الأخطاء باللغة العربية.</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يبني ASTBuilder شجرة البنية المجردة (AST) ذات الأنواع. ثم يُجري المحلِّل الدلالي مَسَّيْن: الأول لجمع التعريفات (الأوضاع، الوحدات، الإجراءات)، والثاني للتحقق العميق من كل معرِّف ووحدة وعنوان.</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يتجوَّل مولِّد LLVM IR على الـ AST المُتحقَّق منه ليُصدر تعليمات LLVM IR — بما فيها الحساسات والمشغلات وآلات الحالة والشروط الزمنية.</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يُحسِّن PassManager الكود بمستوى السرعة 2، ثم يُصدر ملف كائن أصلي. أخيراً يربط clang/gcc وحدات وقت التشغيل (Modbus, MQTT) لينتج ملفاً تنفيذياً مستقلاً.</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2240"/>
          </a:solidFill>
          <a:ln w="12700">
            <a:solidFill>
              <a:srgbClr val="112240"/>
            </a:solidFill>
            <a:prstDash val="solid"/>
          </a:ln>
        </p:spPr>
      </p:sp>
      <p:sp>
        <p:nvSpPr>
          <p:cNvPr id="3" name="Text 1"/>
          <p:cNvSpPr/>
          <p:nvPr/>
        </p:nvSpPr>
        <p:spPr>
          <a:xfrm>
            <a:off x="457200" y="45720"/>
            <a:ext cx="8229600" cy="777240"/>
          </a:xfrm>
          <a:prstGeom prst="rect">
            <a:avLst/>
          </a:prstGeom>
          <a:noFill/>
          <a:ln/>
        </p:spPr>
        <p:txBody>
          <a:bodyPr wrap="square" rtlCol="0" anchor="ctr"/>
          <a:lstStyle/>
          <a:p>
            <a:pPr algn="r" indent="0" marL="0">
              <a:buNone/>
            </a:pPr>
            <a:r>
              <a:rPr lang="en-US" sz="2300" b="1" dirty="0">
                <a:solidFill>
                  <a:srgbClr val="C9A84C"/>
                </a:solidFill>
                <a:latin typeface="Cambria" pitchFamily="34" charset="0"/>
                <a:ea typeface="Cambria" pitchFamily="34" charset="-122"/>
                <a:cs typeface="Cambria" pitchFamily="34" charset="-120"/>
              </a:rPr>
              <a:t>اللغة في التطبيق — من المصدر إلى التنفيذ</a:t>
            </a:r>
            <a:endParaRPr lang="en-US" sz="2300" dirty="0"/>
          </a:p>
        </p:txBody>
      </p:sp>
      <p:sp>
        <p:nvSpPr>
          <p:cNvPr id="4" name="Shape 2"/>
          <p:cNvSpPr/>
          <p:nvPr/>
        </p:nvSpPr>
        <p:spPr>
          <a:xfrm>
            <a:off x="256032" y="932688"/>
            <a:ext cx="4800600" cy="749808"/>
          </a:xfrm>
          <a:prstGeom prst="roundRect">
            <a:avLst>
              <a:gd name="adj" fmla="val 6098"/>
            </a:avLst>
          </a:prstGeom>
          <a:solidFill>
            <a:srgbClr val="0D1F35"/>
          </a:solidFill>
          <a:ln w="9525">
            <a:solidFill>
              <a:srgbClr val="1A3A5C"/>
            </a:solidFill>
            <a:prstDash val="solid"/>
          </a:ln>
        </p:spPr>
      </p:sp>
      <p:sp>
        <p:nvSpPr>
          <p:cNvPr id="5" name="Shape 3"/>
          <p:cNvSpPr/>
          <p:nvPr/>
        </p:nvSpPr>
        <p:spPr>
          <a:xfrm>
            <a:off x="320040" y="996696"/>
            <a:ext cx="1417320" cy="228600"/>
          </a:xfrm>
          <a:prstGeom prst="roundRect">
            <a:avLst>
              <a:gd name="adj" fmla="val 16000"/>
            </a:avLst>
          </a:prstGeom>
          <a:solidFill>
            <a:srgbClr val="C9A84C"/>
          </a:solidFill>
          <a:ln w="12700">
            <a:solidFill>
              <a:srgbClr val="C9A84C"/>
            </a:solidFill>
            <a:prstDash val="solid"/>
          </a:ln>
        </p:spPr>
      </p:sp>
      <p:sp>
        <p:nvSpPr>
          <p:cNvPr id="6" name="Text 4"/>
          <p:cNvSpPr/>
          <p:nvPr/>
        </p:nvSpPr>
        <p:spPr>
          <a:xfrm>
            <a:off x="320040" y="996696"/>
            <a:ext cx="1417320" cy="228600"/>
          </a:xfrm>
          <a:prstGeom prst="rect">
            <a:avLst/>
          </a:prstGeom>
          <a:noFill/>
          <a:ln/>
        </p:spPr>
        <p:txBody>
          <a:bodyPr wrap="square" rtlCol="0" anchor="ctr"/>
          <a:lstStyle/>
          <a:p>
            <a:pPr algn="ctr" indent="0" marL="0">
              <a:buNone/>
            </a:pPr>
            <a:r>
              <a:rPr lang="en-US" sz="850" b="1" dirty="0">
                <a:solidFill>
                  <a:srgbClr val="0A1628"/>
                </a:solidFill>
                <a:latin typeface="Calibri" pitchFamily="34" charset="0"/>
                <a:ea typeface="Calibri" pitchFamily="34" charset="-122"/>
                <a:cs typeface="Calibri" pitchFamily="34" charset="-120"/>
              </a:rPr>
              <a:t>برنامج</a:t>
            </a:r>
            <a:endParaRPr lang="en-US" sz="850" dirty="0"/>
          </a:p>
        </p:txBody>
      </p:sp>
      <p:sp>
        <p:nvSpPr>
          <p:cNvPr id="7" name="Text 5"/>
          <p:cNvSpPr/>
          <p:nvPr/>
        </p:nvSpPr>
        <p:spPr>
          <a:xfrm>
            <a:off x="1792224" y="1005840"/>
            <a:ext cx="1371600" cy="201168"/>
          </a:xfrm>
          <a:prstGeom prst="rect">
            <a:avLst/>
          </a:prstGeom>
          <a:noFill/>
          <a:ln/>
        </p:spPr>
        <p:txBody>
          <a:bodyPr wrap="square" rtlCol="0" anchor="ctr"/>
          <a:lstStyle/>
          <a:p>
            <a:pPr algn="l" indent="0" marL="0">
              <a:buNone/>
            </a:pPr>
            <a:r>
              <a:rPr lang="en-US" sz="800" i="1" dirty="0">
                <a:solidFill>
                  <a:srgbClr val="7A9BBF"/>
                </a:solidFill>
                <a:latin typeface="Calibri" pitchFamily="34" charset="0"/>
                <a:ea typeface="Calibri" pitchFamily="34" charset="-122"/>
                <a:cs typeface="Calibri" pitchFamily="34" charset="-120"/>
              </a:rPr>
              <a:t>program</a:t>
            </a:r>
            <a:endParaRPr lang="en-US" sz="800" dirty="0"/>
          </a:p>
        </p:txBody>
      </p:sp>
      <p:sp>
        <p:nvSpPr>
          <p:cNvPr id="8" name="Text 6"/>
          <p:cNvSpPr/>
          <p:nvPr/>
        </p:nvSpPr>
        <p:spPr>
          <a:xfrm>
            <a:off x="347472" y="1243584"/>
            <a:ext cx="4617720" cy="420624"/>
          </a:xfrm>
          <a:prstGeom prst="rect">
            <a:avLst/>
          </a:prstGeom>
          <a:noFill/>
          <a:ln/>
        </p:spPr>
        <p:txBody>
          <a:bodyPr wrap="square" rtlCol="0" anchor="t"/>
          <a:lstStyle/>
          <a:p>
            <a:pPr algn="l" indent="0" marL="0">
              <a:buNone/>
            </a:pPr>
            <a:r>
              <a:rPr lang="en-US" sz="800" dirty="0">
                <a:solidFill>
                  <a:srgbClr val="E8C87A"/>
                </a:solidFill>
                <a:latin typeface="Courier New" pitchFamily="34" charset="0"/>
                <a:ea typeface="Courier New" pitchFamily="34" charset="-122"/>
                <a:cs typeface="Courier New" pitchFamily="34" charset="-120"/>
              </a:rPr>
              <a:t>برنامج محطة_معالجة_المياه</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يُعرِّف اسم البرنامج ونطاق جميع الموارد.</a:t>
            </a:r>
            <a:endParaRPr lang="en-US" sz="800" dirty="0"/>
          </a:p>
        </p:txBody>
      </p:sp>
      <p:sp>
        <p:nvSpPr>
          <p:cNvPr id="9" name="Shape 7"/>
          <p:cNvSpPr/>
          <p:nvPr/>
        </p:nvSpPr>
        <p:spPr>
          <a:xfrm>
            <a:off x="256032" y="1737360"/>
            <a:ext cx="4800600" cy="749808"/>
          </a:xfrm>
          <a:prstGeom prst="roundRect">
            <a:avLst>
              <a:gd name="adj" fmla="val 6098"/>
            </a:avLst>
          </a:prstGeom>
          <a:solidFill>
            <a:srgbClr val="0D1F35"/>
          </a:solidFill>
          <a:ln w="9525">
            <a:solidFill>
              <a:srgbClr val="1A3A5C"/>
            </a:solidFill>
            <a:prstDash val="solid"/>
          </a:ln>
        </p:spPr>
      </p:sp>
      <p:sp>
        <p:nvSpPr>
          <p:cNvPr id="10" name="Shape 8"/>
          <p:cNvSpPr/>
          <p:nvPr/>
        </p:nvSpPr>
        <p:spPr>
          <a:xfrm>
            <a:off x="320040" y="1801368"/>
            <a:ext cx="1417320" cy="228600"/>
          </a:xfrm>
          <a:prstGeom prst="roundRect">
            <a:avLst>
              <a:gd name="adj" fmla="val 16000"/>
            </a:avLst>
          </a:prstGeom>
          <a:solidFill>
            <a:srgbClr val="C9A84C"/>
          </a:solidFill>
          <a:ln w="12700">
            <a:solidFill>
              <a:srgbClr val="C9A84C"/>
            </a:solidFill>
            <a:prstDash val="solid"/>
          </a:ln>
        </p:spPr>
      </p:sp>
      <p:sp>
        <p:nvSpPr>
          <p:cNvPr id="11" name="Text 9"/>
          <p:cNvSpPr/>
          <p:nvPr/>
        </p:nvSpPr>
        <p:spPr>
          <a:xfrm>
            <a:off x="320040" y="1801368"/>
            <a:ext cx="1417320" cy="228600"/>
          </a:xfrm>
          <a:prstGeom prst="rect">
            <a:avLst/>
          </a:prstGeom>
          <a:noFill/>
          <a:ln/>
        </p:spPr>
        <p:txBody>
          <a:bodyPr wrap="square" rtlCol="0" anchor="ctr"/>
          <a:lstStyle/>
          <a:p>
            <a:pPr algn="ctr" indent="0" marL="0">
              <a:buNone/>
            </a:pPr>
            <a:r>
              <a:rPr lang="en-US" sz="850" b="1" dirty="0">
                <a:solidFill>
                  <a:srgbClr val="0A1628"/>
                </a:solidFill>
                <a:latin typeface="Calibri" pitchFamily="34" charset="0"/>
                <a:ea typeface="Calibri" pitchFamily="34" charset="-122"/>
                <a:cs typeface="Calibri" pitchFamily="34" charset="-120"/>
              </a:rPr>
              <a:t>جهاز</a:t>
            </a:r>
            <a:endParaRPr lang="en-US" sz="850" dirty="0"/>
          </a:p>
        </p:txBody>
      </p:sp>
      <p:sp>
        <p:nvSpPr>
          <p:cNvPr id="12" name="Text 10"/>
          <p:cNvSpPr/>
          <p:nvPr/>
        </p:nvSpPr>
        <p:spPr>
          <a:xfrm>
            <a:off x="1792224" y="1810512"/>
            <a:ext cx="1371600" cy="201168"/>
          </a:xfrm>
          <a:prstGeom prst="rect">
            <a:avLst/>
          </a:prstGeom>
          <a:noFill/>
          <a:ln/>
        </p:spPr>
        <p:txBody>
          <a:bodyPr wrap="square" rtlCol="0" anchor="ctr"/>
          <a:lstStyle/>
          <a:p>
            <a:pPr algn="l" indent="0" marL="0">
              <a:buNone/>
            </a:pPr>
            <a:r>
              <a:rPr lang="en-US" sz="800" i="1" dirty="0">
                <a:solidFill>
                  <a:srgbClr val="7A9BBF"/>
                </a:solidFill>
                <a:latin typeface="Calibri" pitchFamily="34" charset="0"/>
                <a:ea typeface="Calibri" pitchFamily="34" charset="-122"/>
                <a:cs typeface="Calibri" pitchFamily="34" charset="-120"/>
              </a:rPr>
              <a:t>device</a:t>
            </a:r>
            <a:endParaRPr lang="en-US" sz="800" dirty="0"/>
          </a:p>
        </p:txBody>
      </p:sp>
      <p:sp>
        <p:nvSpPr>
          <p:cNvPr id="13" name="Text 11"/>
          <p:cNvSpPr/>
          <p:nvPr/>
        </p:nvSpPr>
        <p:spPr>
          <a:xfrm>
            <a:off x="347472" y="2048256"/>
            <a:ext cx="4617720" cy="420624"/>
          </a:xfrm>
          <a:prstGeom prst="rect">
            <a:avLst/>
          </a:prstGeom>
          <a:noFill/>
          <a:ln/>
        </p:spPr>
        <p:txBody>
          <a:bodyPr wrap="square" rtlCol="0" anchor="t"/>
          <a:lstStyle/>
          <a:p>
            <a:pPr algn="l" indent="0" marL="0">
              <a:buNone/>
            </a:pPr>
            <a:r>
              <a:rPr lang="en-US" sz="800" dirty="0">
                <a:solidFill>
                  <a:srgbClr val="E8C87A"/>
                </a:solidFill>
                <a:latin typeface="Courier New" pitchFamily="34" charset="0"/>
                <a:ea typeface="Courier New" pitchFamily="34" charset="-122"/>
                <a:cs typeface="Courier New" pitchFamily="34" charset="-120"/>
              </a:rPr>
              <a:t>جهاز وحدة_التحكم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عنوان_ip : "127.0.0.1"</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منفذ : 5020</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a:t>
            </a:r>
            <a:endParaRPr lang="en-US" sz="800" dirty="0"/>
          </a:p>
        </p:txBody>
      </p:sp>
      <p:sp>
        <p:nvSpPr>
          <p:cNvPr id="14" name="Shape 12"/>
          <p:cNvSpPr/>
          <p:nvPr/>
        </p:nvSpPr>
        <p:spPr>
          <a:xfrm>
            <a:off x="256032" y="2542032"/>
            <a:ext cx="4800600" cy="749808"/>
          </a:xfrm>
          <a:prstGeom prst="roundRect">
            <a:avLst>
              <a:gd name="adj" fmla="val 6098"/>
            </a:avLst>
          </a:prstGeom>
          <a:solidFill>
            <a:srgbClr val="0D1F35"/>
          </a:solidFill>
          <a:ln w="9525">
            <a:solidFill>
              <a:srgbClr val="1A3A5C"/>
            </a:solidFill>
            <a:prstDash val="solid"/>
          </a:ln>
        </p:spPr>
      </p:sp>
      <p:sp>
        <p:nvSpPr>
          <p:cNvPr id="15" name="Shape 13"/>
          <p:cNvSpPr/>
          <p:nvPr/>
        </p:nvSpPr>
        <p:spPr>
          <a:xfrm>
            <a:off x="320040" y="2606040"/>
            <a:ext cx="1417320" cy="228600"/>
          </a:xfrm>
          <a:prstGeom prst="roundRect">
            <a:avLst>
              <a:gd name="adj" fmla="val 16000"/>
            </a:avLst>
          </a:prstGeom>
          <a:solidFill>
            <a:srgbClr val="C9A84C"/>
          </a:solidFill>
          <a:ln w="12700">
            <a:solidFill>
              <a:srgbClr val="C9A84C"/>
            </a:solidFill>
            <a:prstDash val="solid"/>
          </a:ln>
        </p:spPr>
      </p:sp>
      <p:sp>
        <p:nvSpPr>
          <p:cNvPr id="16" name="Text 14"/>
          <p:cNvSpPr/>
          <p:nvPr/>
        </p:nvSpPr>
        <p:spPr>
          <a:xfrm>
            <a:off x="320040" y="2606040"/>
            <a:ext cx="1417320" cy="228600"/>
          </a:xfrm>
          <a:prstGeom prst="rect">
            <a:avLst/>
          </a:prstGeom>
          <a:noFill/>
          <a:ln/>
        </p:spPr>
        <p:txBody>
          <a:bodyPr wrap="square" rtlCol="0" anchor="ctr"/>
          <a:lstStyle/>
          <a:p>
            <a:pPr algn="ctr" indent="0" marL="0">
              <a:buNone/>
            </a:pPr>
            <a:r>
              <a:rPr lang="en-US" sz="850" b="1" dirty="0">
                <a:solidFill>
                  <a:srgbClr val="0A1628"/>
                </a:solidFill>
                <a:latin typeface="Calibri" pitchFamily="34" charset="0"/>
                <a:ea typeface="Calibri" pitchFamily="34" charset="-122"/>
                <a:cs typeface="Calibri" pitchFamily="34" charset="-120"/>
              </a:rPr>
              <a:t>حساس + صحة</a:t>
            </a:r>
            <a:endParaRPr lang="en-US" sz="850" dirty="0"/>
          </a:p>
        </p:txBody>
      </p:sp>
      <p:sp>
        <p:nvSpPr>
          <p:cNvPr id="17" name="Text 15"/>
          <p:cNvSpPr/>
          <p:nvPr/>
        </p:nvSpPr>
        <p:spPr>
          <a:xfrm>
            <a:off x="1792224" y="2615184"/>
            <a:ext cx="1371600" cy="201168"/>
          </a:xfrm>
          <a:prstGeom prst="rect">
            <a:avLst/>
          </a:prstGeom>
          <a:noFill/>
          <a:ln/>
        </p:spPr>
        <p:txBody>
          <a:bodyPr wrap="square" rtlCol="0" anchor="ctr"/>
          <a:lstStyle/>
          <a:p>
            <a:pPr algn="l" indent="0" marL="0">
              <a:buNone/>
            </a:pPr>
            <a:r>
              <a:rPr lang="en-US" sz="800" i="1" dirty="0">
                <a:solidFill>
                  <a:srgbClr val="7A9BBF"/>
                </a:solidFill>
                <a:latin typeface="Calibri" pitchFamily="34" charset="0"/>
                <a:ea typeface="Calibri" pitchFamily="34" charset="-122"/>
                <a:cs typeface="Calibri" pitchFamily="34" charset="-120"/>
              </a:rPr>
              <a:t>sensor + health</a:t>
            </a:r>
            <a:endParaRPr lang="en-US" sz="800" dirty="0"/>
          </a:p>
        </p:txBody>
      </p:sp>
      <p:sp>
        <p:nvSpPr>
          <p:cNvPr id="18" name="Text 16"/>
          <p:cNvSpPr/>
          <p:nvPr/>
        </p:nvSpPr>
        <p:spPr>
          <a:xfrm>
            <a:off x="347472" y="2852928"/>
            <a:ext cx="4617720" cy="420624"/>
          </a:xfrm>
          <a:prstGeom prst="rect">
            <a:avLst/>
          </a:prstGeom>
          <a:noFill/>
          <a:ln/>
        </p:spPr>
        <p:txBody>
          <a:bodyPr wrap="square" rtlCol="0" anchor="t"/>
          <a:lstStyle/>
          <a:p>
            <a:pPr algn="l" indent="0" marL="0">
              <a:buNone/>
            </a:pPr>
            <a:r>
              <a:rPr lang="en-US" sz="800" dirty="0">
                <a:solidFill>
                  <a:srgbClr val="E8C87A"/>
                </a:solidFill>
                <a:latin typeface="Courier New" pitchFamily="34" charset="0"/>
                <a:ea typeface="Courier New" pitchFamily="34" charset="-122"/>
                <a:cs typeface="Courier New" pitchFamily="34" charset="-120"/>
              </a:rPr>
              <a:t>حساس مستوى_الخزان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نوع: لتر   عنوان: 0x0000   نطاق: 0..4</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صحة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عند_انقطاع_الاتصال { انتقل_الى طوارئ ؛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عند_قيمة_ثابتة مدة: 30 ثانية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تنبيه مستوى_2 "حساس عالق" ؛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a:t>
            </a:r>
            <a:endParaRPr lang="en-US" sz="800" dirty="0"/>
          </a:p>
        </p:txBody>
      </p:sp>
      <p:sp>
        <p:nvSpPr>
          <p:cNvPr id="19" name="Shape 17"/>
          <p:cNvSpPr/>
          <p:nvPr/>
        </p:nvSpPr>
        <p:spPr>
          <a:xfrm>
            <a:off x="256032" y="3346704"/>
            <a:ext cx="4800600" cy="749808"/>
          </a:xfrm>
          <a:prstGeom prst="roundRect">
            <a:avLst>
              <a:gd name="adj" fmla="val 6098"/>
            </a:avLst>
          </a:prstGeom>
          <a:solidFill>
            <a:srgbClr val="0D1F35"/>
          </a:solidFill>
          <a:ln w="9525">
            <a:solidFill>
              <a:srgbClr val="1A3A5C"/>
            </a:solidFill>
            <a:prstDash val="solid"/>
          </a:ln>
        </p:spPr>
      </p:sp>
      <p:sp>
        <p:nvSpPr>
          <p:cNvPr id="20" name="Shape 18"/>
          <p:cNvSpPr/>
          <p:nvPr/>
        </p:nvSpPr>
        <p:spPr>
          <a:xfrm>
            <a:off x="320040" y="3410712"/>
            <a:ext cx="1417320" cy="228600"/>
          </a:xfrm>
          <a:prstGeom prst="roundRect">
            <a:avLst>
              <a:gd name="adj" fmla="val 16000"/>
            </a:avLst>
          </a:prstGeom>
          <a:solidFill>
            <a:srgbClr val="C9A84C"/>
          </a:solidFill>
          <a:ln w="12700">
            <a:solidFill>
              <a:srgbClr val="C9A84C"/>
            </a:solidFill>
            <a:prstDash val="solid"/>
          </a:ln>
        </p:spPr>
      </p:sp>
      <p:sp>
        <p:nvSpPr>
          <p:cNvPr id="21" name="Text 19"/>
          <p:cNvSpPr/>
          <p:nvPr/>
        </p:nvSpPr>
        <p:spPr>
          <a:xfrm>
            <a:off x="320040" y="3410712"/>
            <a:ext cx="1417320" cy="228600"/>
          </a:xfrm>
          <a:prstGeom prst="rect">
            <a:avLst/>
          </a:prstGeom>
          <a:noFill/>
          <a:ln/>
        </p:spPr>
        <p:txBody>
          <a:bodyPr wrap="square" rtlCol="0" anchor="ctr"/>
          <a:lstStyle/>
          <a:p>
            <a:pPr algn="ctr" indent="0" marL="0">
              <a:buNone/>
            </a:pPr>
            <a:r>
              <a:rPr lang="en-US" sz="850" b="1" dirty="0">
                <a:solidFill>
                  <a:srgbClr val="0A1628"/>
                </a:solidFill>
                <a:latin typeface="Calibri" pitchFamily="34" charset="0"/>
                <a:ea typeface="Calibri" pitchFamily="34" charset="-122"/>
                <a:cs typeface="Calibri" pitchFamily="34" charset="-120"/>
              </a:rPr>
              <a:t>مشغِّل</a:t>
            </a:r>
            <a:endParaRPr lang="en-US" sz="850" dirty="0"/>
          </a:p>
        </p:txBody>
      </p:sp>
      <p:sp>
        <p:nvSpPr>
          <p:cNvPr id="22" name="Text 20"/>
          <p:cNvSpPr/>
          <p:nvPr/>
        </p:nvSpPr>
        <p:spPr>
          <a:xfrm>
            <a:off x="1792224" y="3419856"/>
            <a:ext cx="1371600" cy="201168"/>
          </a:xfrm>
          <a:prstGeom prst="rect">
            <a:avLst/>
          </a:prstGeom>
          <a:noFill/>
          <a:ln/>
        </p:spPr>
        <p:txBody>
          <a:bodyPr wrap="square" rtlCol="0" anchor="ctr"/>
          <a:lstStyle/>
          <a:p>
            <a:pPr algn="l" indent="0" marL="0">
              <a:buNone/>
            </a:pPr>
            <a:r>
              <a:rPr lang="en-US" sz="800" i="1" dirty="0">
                <a:solidFill>
                  <a:srgbClr val="7A9BBF"/>
                </a:solidFill>
                <a:latin typeface="Calibri" pitchFamily="34" charset="0"/>
                <a:ea typeface="Calibri" pitchFamily="34" charset="-122"/>
                <a:cs typeface="Calibri" pitchFamily="34" charset="-120"/>
              </a:rPr>
              <a:t>actuator</a:t>
            </a:r>
            <a:endParaRPr lang="en-US" sz="800" dirty="0"/>
          </a:p>
        </p:txBody>
      </p:sp>
      <p:sp>
        <p:nvSpPr>
          <p:cNvPr id="23" name="Text 21"/>
          <p:cNvSpPr/>
          <p:nvPr/>
        </p:nvSpPr>
        <p:spPr>
          <a:xfrm>
            <a:off x="347472" y="3657600"/>
            <a:ext cx="4617720" cy="420624"/>
          </a:xfrm>
          <a:prstGeom prst="rect">
            <a:avLst/>
          </a:prstGeom>
          <a:noFill/>
          <a:ln/>
        </p:spPr>
        <p:txBody>
          <a:bodyPr wrap="square" rtlCol="0" anchor="t"/>
          <a:lstStyle/>
          <a:p>
            <a:pPr algn="l" indent="0" marL="0">
              <a:buNone/>
            </a:pPr>
            <a:r>
              <a:rPr lang="en-US" sz="800" dirty="0">
                <a:solidFill>
                  <a:srgbClr val="E8C87A"/>
                </a:solidFill>
                <a:latin typeface="Courier New" pitchFamily="34" charset="0"/>
                <a:ea typeface="Courier New" pitchFamily="34" charset="-122"/>
                <a:cs typeface="Courier New" pitchFamily="34" charset="-120"/>
              </a:rPr>
              <a:t>مشغل مضخة_التصريف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نوع: بالمئة   عنوان: 0x0020</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a:t>
            </a:r>
            <a:endParaRPr lang="en-US" sz="800" dirty="0"/>
          </a:p>
        </p:txBody>
      </p:sp>
      <p:sp>
        <p:nvSpPr>
          <p:cNvPr id="24" name="Shape 22"/>
          <p:cNvSpPr/>
          <p:nvPr/>
        </p:nvSpPr>
        <p:spPr>
          <a:xfrm>
            <a:off x="256032" y="4151376"/>
            <a:ext cx="4800600" cy="749808"/>
          </a:xfrm>
          <a:prstGeom prst="roundRect">
            <a:avLst>
              <a:gd name="adj" fmla="val 6098"/>
            </a:avLst>
          </a:prstGeom>
          <a:solidFill>
            <a:srgbClr val="0D1F35"/>
          </a:solidFill>
          <a:ln w="9525">
            <a:solidFill>
              <a:srgbClr val="1A3A5C"/>
            </a:solidFill>
            <a:prstDash val="solid"/>
          </a:ln>
        </p:spPr>
      </p:sp>
      <p:sp>
        <p:nvSpPr>
          <p:cNvPr id="25" name="Shape 23"/>
          <p:cNvSpPr/>
          <p:nvPr/>
        </p:nvSpPr>
        <p:spPr>
          <a:xfrm>
            <a:off x="320040" y="4215384"/>
            <a:ext cx="1417320" cy="228600"/>
          </a:xfrm>
          <a:prstGeom prst="roundRect">
            <a:avLst>
              <a:gd name="adj" fmla="val 16000"/>
            </a:avLst>
          </a:prstGeom>
          <a:solidFill>
            <a:srgbClr val="C9A84C"/>
          </a:solidFill>
          <a:ln w="12700">
            <a:solidFill>
              <a:srgbClr val="C9A84C"/>
            </a:solidFill>
            <a:prstDash val="solid"/>
          </a:ln>
        </p:spPr>
      </p:sp>
      <p:sp>
        <p:nvSpPr>
          <p:cNvPr id="26" name="Text 24"/>
          <p:cNvSpPr/>
          <p:nvPr/>
        </p:nvSpPr>
        <p:spPr>
          <a:xfrm>
            <a:off x="320040" y="4215384"/>
            <a:ext cx="1417320" cy="228600"/>
          </a:xfrm>
          <a:prstGeom prst="rect">
            <a:avLst/>
          </a:prstGeom>
          <a:noFill/>
          <a:ln/>
        </p:spPr>
        <p:txBody>
          <a:bodyPr wrap="square" rtlCol="0" anchor="ctr"/>
          <a:lstStyle/>
          <a:p>
            <a:pPr algn="ctr" indent="0" marL="0">
              <a:buNone/>
            </a:pPr>
            <a:r>
              <a:rPr lang="en-US" sz="850" b="1" dirty="0">
                <a:solidFill>
                  <a:srgbClr val="0A1628"/>
                </a:solidFill>
                <a:latin typeface="Calibri" pitchFamily="34" charset="0"/>
                <a:ea typeface="Calibri" pitchFamily="34" charset="-122"/>
                <a:cs typeface="Calibri" pitchFamily="34" charset="-120"/>
              </a:rPr>
              <a:t>وضع + قاعدة + عند_استمرار</a:t>
            </a:r>
            <a:endParaRPr lang="en-US" sz="850" dirty="0"/>
          </a:p>
        </p:txBody>
      </p:sp>
      <p:sp>
        <p:nvSpPr>
          <p:cNvPr id="27" name="Text 25"/>
          <p:cNvSpPr/>
          <p:nvPr/>
        </p:nvSpPr>
        <p:spPr>
          <a:xfrm>
            <a:off x="1792224" y="4224528"/>
            <a:ext cx="1371600" cy="201168"/>
          </a:xfrm>
          <a:prstGeom prst="rect">
            <a:avLst/>
          </a:prstGeom>
          <a:noFill/>
          <a:ln/>
        </p:spPr>
        <p:txBody>
          <a:bodyPr wrap="square" rtlCol="0" anchor="ctr"/>
          <a:lstStyle/>
          <a:p>
            <a:pPr algn="l" indent="0" marL="0">
              <a:buNone/>
            </a:pPr>
            <a:r>
              <a:rPr lang="en-US" sz="800" i="1" dirty="0">
                <a:solidFill>
                  <a:srgbClr val="7A9BBF"/>
                </a:solidFill>
                <a:latin typeface="Calibri" pitchFamily="34" charset="0"/>
                <a:ea typeface="Calibri" pitchFamily="34" charset="-122"/>
                <a:cs typeface="Calibri" pitchFamily="34" charset="-120"/>
              </a:rPr>
              <a:t>mode / rule / temporal</a:t>
            </a:r>
            <a:endParaRPr lang="en-US" sz="800" dirty="0"/>
          </a:p>
        </p:txBody>
      </p:sp>
      <p:sp>
        <p:nvSpPr>
          <p:cNvPr id="28" name="Text 26"/>
          <p:cNvSpPr/>
          <p:nvPr/>
        </p:nvSpPr>
        <p:spPr>
          <a:xfrm>
            <a:off x="347472" y="4462272"/>
            <a:ext cx="4617720" cy="420624"/>
          </a:xfrm>
          <a:prstGeom prst="rect">
            <a:avLst/>
          </a:prstGeom>
          <a:noFill/>
          <a:ln/>
        </p:spPr>
        <p:txBody>
          <a:bodyPr wrap="square" rtlCol="0" anchor="t"/>
          <a:lstStyle/>
          <a:p>
            <a:pPr algn="l" indent="0" marL="0">
              <a:buNone/>
            </a:pPr>
            <a:r>
              <a:rPr lang="en-US" sz="800" dirty="0">
                <a:solidFill>
                  <a:srgbClr val="E8C87A"/>
                </a:solidFill>
                <a:latin typeface="Courier New" pitchFamily="34" charset="0"/>
                <a:ea typeface="Courier New" pitchFamily="34" charset="-122"/>
                <a:cs typeface="Courier New" pitchFamily="34" charset="-120"/>
              </a:rPr>
              <a:t>وضع تشغيل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قاعدة خزان_ممتلئ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عند_استمرار ( مستوى_الخزان &gt; 3.5 )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لمدة 10 ثانية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امر مضخة_التصريف تشغيل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تنبيه مستوى_1 "المستوى مرتفع"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  }</a:t>
            </a:r>
            <a:endParaRPr lang="en-US" sz="800" dirty="0"/>
          </a:p>
          <a:p>
            <a:pPr algn="l" indent="0" marL="0">
              <a:buNone/>
            </a:pPr>
            <a:r>
              <a:rPr lang="en-US" sz="800" dirty="0">
                <a:solidFill>
                  <a:srgbClr val="E8C87A"/>
                </a:solidFill>
                <a:latin typeface="Courier New" pitchFamily="34" charset="0"/>
                <a:ea typeface="Courier New" pitchFamily="34" charset="-122"/>
                <a:cs typeface="Courier New" pitchFamily="34" charset="-120"/>
              </a:rPr>
              <a:t>}</a:t>
            </a:r>
            <a:endParaRPr lang="en-US" sz="800" dirty="0"/>
          </a:p>
        </p:txBody>
      </p:sp>
      <p:sp>
        <p:nvSpPr>
          <p:cNvPr id="29" name="Shape 27"/>
          <p:cNvSpPr/>
          <p:nvPr/>
        </p:nvSpPr>
        <p:spPr>
          <a:xfrm>
            <a:off x="5230368" y="932688"/>
            <a:ext cx="3639312" cy="749808"/>
          </a:xfrm>
          <a:prstGeom prst="roundRect">
            <a:avLst>
              <a:gd name="adj" fmla="val 6098"/>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30" name="Text 28"/>
          <p:cNvSpPr/>
          <p:nvPr/>
        </p:nvSpPr>
        <p:spPr>
          <a:xfrm>
            <a:off x="5340096" y="987552"/>
            <a:ext cx="3419856" cy="658368"/>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إعلان البرنامج (برنامج)
</a:t>
            </a:r>
            <a:pPr algn="r" indent="0" marL="0">
              <a:buNone/>
            </a:pPr>
            <a:r>
              <a:rPr lang="en-US" sz="850" dirty="0">
                <a:solidFill>
                  <a:srgbClr val="D6E4F0"/>
                </a:solidFill>
                <a:latin typeface="Calibri" pitchFamily="34" charset="0"/>
                <a:ea typeface="Calibri" pitchFamily="34" charset="-122"/>
                <a:cs typeface="Calibri" pitchFamily="34" charset="-120"/>
              </a:rPr>
              <a:t>يُسمِّي برنامج التحكم ويُؤطِّر جميع الموارد والمنطق ضمنه.</a:t>
            </a:r>
            <a:endParaRPr lang="en-US" sz="950" dirty="0"/>
          </a:p>
        </p:txBody>
      </p:sp>
      <p:sp>
        <p:nvSpPr>
          <p:cNvPr id="31" name="Shape 29"/>
          <p:cNvSpPr/>
          <p:nvPr/>
        </p:nvSpPr>
        <p:spPr>
          <a:xfrm>
            <a:off x="5230368" y="1737360"/>
            <a:ext cx="3639312" cy="749808"/>
          </a:xfrm>
          <a:prstGeom prst="roundRect">
            <a:avLst>
              <a:gd name="adj" fmla="val 6098"/>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32" name="Text 30"/>
          <p:cNvSpPr/>
          <p:nvPr/>
        </p:nvSpPr>
        <p:spPr>
          <a:xfrm>
            <a:off x="5340096" y="1792224"/>
            <a:ext cx="3419856" cy="658368"/>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كتلة الجهاز (جهاز)
</a:t>
            </a:r>
            <a:pPr algn="r" indent="0" marL="0">
              <a:buNone/>
            </a:pPr>
            <a:r>
              <a:rPr lang="en-US" sz="850" dirty="0">
                <a:solidFill>
                  <a:srgbClr val="D6E4F0"/>
                </a:solidFill>
                <a:latin typeface="Calibri" pitchFamily="34" charset="0"/>
                <a:ea typeface="Calibri" pitchFamily="34" charset="-122"/>
                <a:cs typeface="Calibri" pitchFamily="34" charset="-120"/>
              </a:rPr>
              <a:t>تُعرِّف وحدة التحكم بعنوان IP ومنفذها. يتحقق المُحلِّل الدلالي من صحة العنوان ونطاق المنفذ وقت الترجمة.</a:t>
            </a:r>
            <a:endParaRPr lang="en-US" sz="950" dirty="0"/>
          </a:p>
        </p:txBody>
      </p:sp>
      <p:sp>
        <p:nvSpPr>
          <p:cNvPr id="33" name="Shape 31"/>
          <p:cNvSpPr/>
          <p:nvPr/>
        </p:nvSpPr>
        <p:spPr>
          <a:xfrm>
            <a:off x="5230368" y="2542032"/>
            <a:ext cx="3639312" cy="749808"/>
          </a:xfrm>
          <a:prstGeom prst="roundRect">
            <a:avLst>
              <a:gd name="adj" fmla="val 6098"/>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34" name="Text 32"/>
          <p:cNvSpPr/>
          <p:nvPr/>
        </p:nvSpPr>
        <p:spPr>
          <a:xfrm>
            <a:off x="5340096" y="2596896"/>
            <a:ext cx="3419856" cy="658368"/>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الحساس والصحة (حساس + صحة)
</a:t>
            </a:r>
            <a:pPr algn="r" indent="0" marL="0">
              <a:buNone/>
            </a:pPr>
            <a:r>
              <a:rPr lang="en-US" sz="850" dirty="0">
                <a:solidFill>
                  <a:srgbClr val="D6E4F0"/>
                </a:solidFill>
                <a:latin typeface="Calibri" pitchFamily="34" charset="0"/>
                <a:ea typeface="Calibri" pitchFamily="34" charset="-122"/>
                <a:cs typeface="Calibri" pitchFamily="34" charset="-120"/>
              </a:rPr>
              <a:t>يُعرِّف حساساً مكتوباً بوحدة فيزيائية مع عنوان سجل Modbus. تُشفِّر كتلة الصحة أوضاع الأعطال مباشرةً — يُولِّد المُجمِّع الحرّاس تلقائياً.</a:t>
            </a:r>
            <a:endParaRPr lang="en-US" sz="950" dirty="0"/>
          </a:p>
        </p:txBody>
      </p:sp>
      <p:sp>
        <p:nvSpPr>
          <p:cNvPr id="35" name="Shape 33"/>
          <p:cNvSpPr/>
          <p:nvPr/>
        </p:nvSpPr>
        <p:spPr>
          <a:xfrm>
            <a:off x="5230368" y="3346704"/>
            <a:ext cx="3639312" cy="749808"/>
          </a:xfrm>
          <a:prstGeom prst="roundRect">
            <a:avLst>
              <a:gd name="adj" fmla="val 6098"/>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36" name="Text 34"/>
          <p:cNvSpPr/>
          <p:nvPr/>
        </p:nvSpPr>
        <p:spPr>
          <a:xfrm>
            <a:off x="5340096" y="3401568"/>
            <a:ext cx="3419856" cy="658368"/>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الشرط الزمني (عند_استمرار)
</a:t>
            </a:r>
            <a:pPr algn="r" indent="0" marL="0">
              <a:buNone/>
            </a:pPr>
            <a:r>
              <a:rPr lang="en-US" sz="850" dirty="0">
                <a:solidFill>
                  <a:srgbClr val="D6E4F0"/>
                </a:solidFill>
                <a:latin typeface="Calibri" pitchFamily="34" charset="0"/>
                <a:ea typeface="Calibri" pitchFamily="34" charset="-122"/>
                <a:cs typeface="Calibri" pitchFamily="34" charset="-120"/>
              </a:rPr>
              <a:t>يُطلِق القاعدة فقط إذا ظلَّ الشرط صحيحاً لـ 10 ثوانٍ متواصلة. مُنفَّذ في LLVM IR بمتغير زمني عالمي — صفر اضطرابات مزيَّفة.</a:t>
            </a:r>
            <a:endParaRPr lang="en-US" sz="950" dirty="0"/>
          </a:p>
        </p:txBody>
      </p:sp>
      <p:sp>
        <p:nvSpPr>
          <p:cNvPr id="37" name="Shape 35"/>
          <p:cNvSpPr/>
          <p:nvPr/>
        </p:nvSpPr>
        <p:spPr>
          <a:xfrm>
            <a:off x="5230368" y="4151376"/>
            <a:ext cx="3639312" cy="749808"/>
          </a:xfrm>
          <a:prstGeom prst="roundRect">
            <a:avLst>
              <a:gd name="adj" fmla="val 6098"/>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38" name="Text 36"/>
          <p:cNvSpPr/>
          <p:nvPr/>
        </p:nvSpPr>
        <p:spPr>
          <a:xfrm>
            <a:off x="5340096" y="4206240"/>
            <a:ext cx="3419856" cy="658368"/>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الأمر والتنبيه (امر + تنبيه)
</a:t>
            </a:r>
            <a:pPr algn="r" indent="0" marL="0">
              <a:buNone/>
            </a:pPr>
            <a:r>
              <a:rPr lang="en-US" sz="850" dirty="0">
                <a:solidFill>
                  <a:srgbClr val="D6E4F0"/>
                </a:solidFill>
                <a:latin typeface="Calibri" pitchFamily="34" charset="0"/>
                <a:ea typeface="Calibri" pitchFamily="34" charset="-122"/>
                <a:cs typeface="Calibri" pitchFamily="34" charset="-120"/>
              </a:rPr>
              <a:t>يكتب إلى سجل Modbus للمشغِّل ويستدعي mizan_actuator_cmd() وينشر التغيير عبر MQTT في آنٍ واحد.</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2240"/>
          </a:solidFill>
          <a:ln w="12700">
            <a:solidFill>
              <a:srgbClr val="112240"/>
            </a:solidFill>
            <a:prstDash val="solid"/>
          </a:ln>
        </p:spPr>
      </p:sp>
      <p:sp>
        <p:nvSpPr>
          <p:cNvPr id="3" name="Text 1"/>
          <p:cNvSpPr/>
          <p:nvPr/>
        </p:nvSpPr>
        <p:spPr>
          <a:xfrm>
            <a:off x="457200" y="45720"/>
            <a:ext cx="8229600" cy="777240"/>
          </a:xfrm>
          <a:prstGeom prst="rect">
            <a:avLst/>
          </a:prstGeom>
          <a:noFill/>
          <a:ln/>
        </p:spPr>
        <p:txBody>
          <a:bodyPr wrap="square" rtlCol="0" anchor="ctr"/>
          <a:lstStyle/>
          <a:p>
            <a:pPr algn="r" indent="0" marL="0">
              <a:buNone/>
            </a:pPr>
            <a:r>
              <a:rPr lang="en-US" sz="2300" b="1" dirty="0">
                <a:solidFill>
                  <a:srgbClr val="C9A84C"/>
                </a:solidFill>
                <a:latin typeface="Cambria" pitchFamily="34" charset="0"/>
                <a:ea typeface="Cambria" pitchFamily="34" charset="-122"/>
                <a:cs typeface="Cambria" pitchFamily="34" charset="-120"/>
              </a:rPr>
              <a:t>استعداد التشغيل الفعلي في البيئات الصناعية</a:t>
            </a:r>
            <a:endParaRPr lang="en-US" sz="2300" dirty="0"/>
          </a:p>
        </p:txBody>
      </p:sp>
      <p:sp>
        <p:nvSpPr>
          <p:cNvPr id="4" name="Shape 2"/>
          <p:cNvSpPr/>
          <p:nvPr/>
        </p:nvSpPr>
        <p:spPr>
          <a:xfrm>
            <a:off x="256032" y="960120"/>
            <a:ext cx="4251960" cy="3017520"/>
          </a:xfrm>
          <a:prstGeom prst="roundRect">
            <a:avLst>
              <a:gd name="adj" fmla="val 2121"/>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5" name="Text 3"/>
          <p:cNvSpPr/>
          <p:nvPr/>
        </p:nvSpPr>
        <p:spPr>
          <a:xfrm>
            <a:off x="393192" y="1005840"/>
            <a:ext cx="3977640" cy="320040"/>
          </a:xfrm>
          <a:prstGeom prst="rect">
            <a:avLst/>
          </a:prstGeom>
          <a:noFill/>
          <a:ln/>
        </p:spPr>
        <p:txBody>
          <a:bodyPr wrap="square" rtlCol="0" anchor="ctr"/>
          <a:lstStyle/>
          <a:p>
            <a:pPr algn="r" indent="0" marL="0">
              <a:buNone/>
            </a:pPr>
            <a:r>
              <a:rPr lang="en-US" sz="1250" b="1" dirty="0">
                <a:solidFill>
                  <a:srgbClr val="C9A84C"/>
                </a:solidFill>
                <a:latin typeface="Cambria" pitchFamily="34" charset="0"/>
                <a:ea typeface="Cambria" pitchFamily="34" charset="-122"/>
                <a:cs typeface="Cambria" pitchFamily="34" charset="-120"/>
              </a:rPr>
              <a:t>Modbus TCP — معيار IEC 61158</a:t>
            </a:r>
            <a:endParaRPr lang="en-US" sz="1250" dirty="0"/>
          </a:p>
        </p:txBody>
      </p:sp>
      <p:sp>
        <p:nvSpPr>
          <p:cNvPr id="6" name="Text 4"/>
          <p:cNvSpPr/>
          <p:nvPr/>
        </p:nvSpPr>
        <p:spPr>
          <a:xfrm>
            <a:off x="393192" y="1307592"/>
            <a:ext cx="3977640" cy="256032"/>
          </a:xfrm>
          <a:prstGeom prst="rect">
            <a:avLst/>
          </a:prstGeom>
          <a:noFill/>
          <a:ln/>
        </p:spPr>
        <p:txBody>
          <a:bodyPr wrap="square" rtlCol="0" anchor="ctr"/>
          <a:lstStyle/>
          <a:p>
            <a:pPr algn="r" indent="0" marL="0">
              <a:buNone/>
            </a:pPr>
            <a:r>
              <a:rPr lang="en-US" sz="950" i="1" dirty="0">
                <a:solidFill>
                  <a:srgbClr val="E8C87A"/>
                </a:solidFill>
                <a:latin typeface="Calibri" pitchFamily="34" charset="0"/>
                <a:ea typeface="Calibri" pitchFamily="34" charset="-122"/>
                <a:cs typeface="Calibri" pitchFamily="34" charset="-120"/>
              </a:rPr>
              <a:t>المعيار الصناعي العالمي لاتصالات الحساسات والمشغلات</a:t>
            </a:r>
            <a:endParaRPr lang="en-US" sz="950" dirty="0"/>
          </a:p>
        </p:txBody>
      </p:sp>
      <p:sp>
        <p:nvSpPr>
          <p:cNvPr id="7" name="Text 5"/>
          <p:cNvSpPr/>
          <p:nvPr/>
        </p:nvSpPr>
        <p:spPr>
          <a:xfrm>
            <a:off x="393192" y="1545336"/>
            <a:ext cx="3977640" cy="2331720"/>
          </a:xfrm>
          <a:prstGeom prst="rect">
            <a:avLst/>
          </a:prstGeom>
          <a:noFill/>
          <a:ln/>
        </p:spPr>
        <p:txBody>
          <a:bodyPr wrap="square" rtlCol="0" anchor="t"/>
          <a:lstStyle/>
          <a:p>
            <a:pPr algn="r" indent="0" marL="0">
              <a:buNone/>
            </a:pPr>
            <a:r>
              <a:rPr lang="en-US" sz="900" dirty="0">
                <a:solidFill>
                  <a:srgbClr val="D6E4F0"/>
                </a:solidFill>
                <a:latin typeface="Calibri" pitchFamily="34" charset="0"/>
                <a:ea typeface="Calibri" pitchFamily="34" charset="-122"/>
                <a:cs typeface="Calibri" pitchFamily="34" charset="-120"/>
              </a:rPr>
              <a:t>Modbus TCP، المُقنَّن في IEC 61158، هو بروتوكول الحافلة الميدانية الأوسع انتشاراً في الأتمتة الصناعية. يعمل عبر شبكة Ethernet القياسية مما يُتيح لأجهزة PLC وأنظمة SCADA قراءة الحساسات والتحكم في المشغلات عبر أي شبكة IP.</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وحدة وقت تشغيل ميزان (mizan_modbus.c) تُنفِّذ عميل Modbus TCP كاملاً عبر libmodbus. تتصل بأي جهاز متوافق باستخدام IP والمنفذ المُعلَن في كتلة جهاز. القراءات والكتابات تستخدم ترميز IEEE 754 بترتيب Big-Endian (ABCD)، مع منطق إعادة الاتصال التلقائي لاستئناف العمل بعد انقطاع الشبكة.</a:t>
            </a:r>
            <a:endParaRPr lang="en-US" sz="900" dirty="0"/>
          </a:p>
        </p:txBody>
      </p:sp>
      <p:sp>
        <p:nvSpPr>
          <p:cNvPr id="8" name="Shape 6"/>
          <p:cNvSpPr/>
          <p:nvPr/>
        </p:nvSpPr>
        <p:spPr>
          <a:xfrm>
            <a:off x="393192" y="4069080"/>
            <a:ext cx="897941" cy="219456"/>
          </a:xfrm>
          <a:prstGeom prst="roundRect">
            <a:avLst>
              <a:gd name="adj" fmla="val 16667"/>
            </a:avLst>
          </a:prstGeom>
          <a:solidFill>
            <a:srgbClr val="1A3A5C"/>
          </a:solidFill>
          <a:ln w="6350">
            <a:solidFill>
              <a:srgbClr val="C9A84C"/>
            </a:solidFill>
            <a:prstDash val="solid"/>
          </a:ln>
        </p:spPr>
      </p:sp>
      <p:sp>
        <p:nvSpPr>
          <p:cNvPr id="9" name="Text 7"/>
          <p:cNvSpPr/>
          <p:nvPr/>
        </p:nvSpPr>
        <p:spPr>
          <a:xfrm>
            <a:off x="393192" y="4069080"/>
            <a:ext cx="897941"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IEC 61158</a:t>
            </a:r>
            <a:endParaRPr lang="en-US" sz="700" dirty="0"/>
          </a:p>
        </p:txBody>
      </p:sp>
      <p:sp>
        <p:nvSpPr>
          <p:cNvPr id="10" name="Shape 8"/>
          <p:cNvSpPr/>
          <p:nvPr/>
        </p:nvSpPr>
        <p:spPr>
          <a:xfrm>
            <a:off x="1355141" y="4069080"/>
            <a:ext cx="1325880" cy="219456"/>
          </a:xfrm>
          <a:prstGeom prst="roundRect">
            <a:avLst>
              <a:gd name="adj" fmla="val 16667"/>
            </a:avLst>
          </a:prstGeom>
          <a:solidFill>
            <a:srgbClr val="1A3A5C"/>
          </a:solidFill>
          <a:ln w="6350">
            <a:solidFill>
              <a:srgbClr val="C9A84C"/>
            </a:solidFill>
            <a:prstDash val="solid"/>
          </a:ln>
        </p:spPr>
      </p:sp>
      <p:sp>
        <p:nvSpPr>
          <p:cNvPr id="11" name="Text 9"/>
          <p:cNvSpPr/>
          <p:nvPr/>
        </p:nvSpPr>
        <p:spPr>
          <a:xfrm>
            <a:off x="1355141" y="4069080"/>
            <a:ext cx="1325880"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Ethernet TCP/IP</a:t>
            </a:r>
            <a:endParaRPr lang="en-US" sz="700" dirty="0"/>
          </a:p>
        </p:txBody>
      </p:sp>
      <p:sp>
        <p:nvSpPr>
          <p:cNvPr id="12" name="Shape 10"/>
          <p:cNvSpPr/>
          <p:nvPr/>
        </p:nvSpPr>
        <p:spPr>
          <a:xfrm>
            <a:off x="2745029" y="4069080"/>
            <a:ext cx="1371600" cy="219456"/>
          </a:xfrm>
          <a:prstGeom prst="roundRect">
            <a:avLst>
              <a:gd name="adj" fmla="val 16667"/>
            </a:avLst>
          </a:prstGeom>
          <a:solidFill>
            <a:srgbClr val="1A3A5C"/>
          </a:solidFill>
          <a:ln w="6350">
            <a:solidFill>
              <a:srgbClr val="C9A84C"/>
            </a:solidFill>
            <a:prstDash val="solid"/>
          </a:ln>
        </p:spPr>
      </p:sp>
      <p:sp>
        <p:nvSpPr>
          <p:cNvPr id="13" name="Text 11"/>
          <p:cNvSpPr/>
          <p:nvPr/>
        </p:nvSpPr>
        <p:spPr>
          <a:xfrm>
            <a:off x="2745029" y="4069080"/>
            <a:ext cx="1371600"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إعادة اتصال تلقائية</a:t>
            </a:r>
            <a:endParaRPr lang="en-US" sz="700" dirty="0"/>
          </a:p>
        </p:txBody>
      </p:sp>
      <p:sp>
        <p:nvSpPr>
          <p:cNvPr id="14" name="Shape 12"/>
          <p:cNvSpPr/>
          <p:nvPr/>
        </p:nvSpPr>
        <p:spPr>
          <a:xfrm>
            <a:off x="4180637" y="4069080"/>
            <a:ext cx="1183234" cy="219456"/>
          </a:xfrm>
          <a:prstGeom prst="roundRect">
            <a:avLst>
              <a:gd name="adj" fmla="val 16667"/>
            </a:avLst>
          </a:prstGeom>
          <a:solidFill>
            <a:srgbClr val="1A3A5C"/>
          </a:solidFill>
          <a:ln w="6350">
            <a:solidFill>
              <a:srgbClr val="C9A84C"/>
            </a:solidFill>
            <a:prstDash val="solid"/>
          </a:ln>
        </p:spPr>
      </p:sp>
      <p:sp>
        <p:nvSpPr>
          <p:cNvPr id="15" name="Text 13"/>
          <p:cNvSpPr/>
          <p:nvPr/>
        </p:nvSpPr>
        <p:spPr>
          <a:xfrm>
            <a:off x="4180637" y="4069080"/>
            <a:ext cx="1183234"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IEEE 754 ABCD</a:t>
            </a:r>
            <a:endParaRPr lang="en-US" sz="700" dirty="0"/>
          </a:p>
        </p:txBody>
      </p:sp>
      <p:sp>
        <p:nvSpPr>
          <p:cNvPr id="16" name="Shape 14"/>
          <p:cNvSpPr/>
          <p:nvPr/>
        </p:nvSpPr>
        <p:spPr>
          <a:xfrm>
            <a:off x="393192" y="4325112"/>
            <a:ext cx="897941" cy="219456"/>
          </a:xfrm>
          <a:prstGeom prst="roundRect">
            <a:avLst>
              <a:gd name="adj" fmla="val 16667"/>
            </a:avLst>
          </a:prstGeom>
          <a:solidFill>
            <a:srgbClr val="1A3A5C"/>
          </a:solidFill>
          <a:ln w="6350">
            <a:solidFill>
              <a:srgbClr val="C9A84C"/>
            </a:solidFill>
            <a:prstDash val="solid"/>
          </a:ln>
        </p:spPr>
      </p:sp>
      <p:sp>
        <p:nvSpPr>
          <p:cNvPr id="17" name="Text 15"/>
          <p:cNvSpPr/>
          <p:nvPr/>
        </p:nvSpPr>
        <p:spPr>
          <a:xfrm>
            <a:off x="393192" y="4325112"/>
            <a:ext cx="897941"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libmodbus</a:t>
            </a:r>
            <a:endParaRPr lang="en-US" sz="700" dirty="0"/>
          </a:p>
        </p:txBody>
      </p:sp>
      <p:sp>
        <p:nvSpPr>
          <p:cNvPr id="18" name="Shape 16"/>
          <p:cNvSpPr/>
          <p:nvPr/>
        </p:nvSpPr>
        <p:spPr>
          <a:xfrm>
            <a:off x="4681728" y="960120"/>
            <a:ext cx="4251960" cy="3017520"/>
          </a:xfrm>
          <a:prstGeom prst="roundRect">
            <a:avLst>
              <a:gd name="adj" fmla="val 2121"/>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19" name="Text 17"/>
          <p:cNvSpPr/>
          <p:nvPr/>
        </p:nvSpPr>
        <p:spPr>
          <a:xfrm>
            <a:off x="4818888" y="1005840"/>
            <a:ext cx="3977640" cy="320040"/>
          </a:xfrm>
          <a:prstGeom prst="rect">
            <a:avLst/>
          </a:prstGeom>
          <a:noFill/>
          <a:ln/>
        </p:spPr>
        <p:txBody>
          <a:bodyPr wrap="square" rtlCol="0" anchor="ctr"/>
          <a:lstStyle/>
          <a:p>
            <a:pPr algn="r" indent="0" marL="0">
              <a:buNone/>
            </a:pPr>
            <a:r>
              <a:rPr lang="en-US" sz="1250" b="1" dirty="0">
                <a:solidFill>
                  <a:srgbClr val="C9A84C"/>
                </a:solidFill>
                <a:latin typeface="Cambria" pitchFamily="34" charset="0"/>
                <a:ea typeface="Cambria" pitchFamily="34" charset="-122"/>
                <a:cs typeface="Cambria" pitchFamily="34" charset="-120"/>
              </a:rPr>
              <a:t>MQTT — معيار ISO/IEC 20922</a:t>
            </a:r>
            <a:endParaRPr lang="en-US" sz="1250" dirty="0"/>
          </a:p>
        </p:txBody>
      </p:sp>
      <p:sp>
        <p:nvSpPr>
          <p:cNvPr id="20" name="Text 18"/>
          <p:cNvSpPr/>
          <p:nvPr/>
        </p:nvSpPr>
        <p:spPr>
          <a:xfrm>
            <a:off x="4818888" y="1307592"/>
            <a:ext cx="3977640" cy="256032"/>
          </a:xfrm>
          <a:prstGeom prst="rect">
            <a:avLst/>
          </a:prstGeom>
          <a:noFill/>
          <a:ln/>
        </p:spPr>
        <p:txBody>
          <a:bodyPr wrap="square" rtlCol="0" anchor="ctr"/>
          <a:lstStyle/>
          <a:p>
            <a:pPr algn="r" indent="0" marL="0">
              <a:buNone/>
            </a:pPr>
            <a:r>
              <a:rPr lang="en-US" sz="950" i="1" dirty="0">
                <a:solidFill>
                  <a:srgbClr val="E8C87A"/>
                </a:solidFill>
                <a:latin typeface="Calibri" pitchFamily="34" charset="0"/>
                <a:ea typeface="Calibri" pitchFamily="34" charset="-122"/>
                <a:cs typeface="Calibri" pitchFamily="34" charset="-120"/>
              </a:rPr>
              <a:t>قياس عن بُعد وتنبيهات وتقارير عبر بروتوكول IoT قياسي</a:t>
            </a:r>
            <a:endParaRPr lang="en-US" sz="950" dirty="0"/>
          </a:p>
        </p:txBody>
      </p:sp>
      <p:sp>
        <p:nvSpPr>
          <p:cNvPr id="21" name="Text 19"/>
          <p:cNvSpPr/>
          <p:nvPr/>
        </p:nvSpPr>
        <p:spPr>
          <a:xfrm>
            <a:off x="4818888" y="1545336"/>
            <a:ext cx="3977640" cy="2331720"/>
          </a:xfrm>
          <a:prstGeom prst="rect">
            <a:avLst/>
          </a:prstGeom>
          <a:noFill/>
          <a:ln/>
        </p:spPr>
        <p:txBody>
          <a:bodyPr wrap="square" rtlCol="0" anchor="t"/>
          <a:lstStyle/>
          <a:p>
            <a:pPr algn="r" indent="0" marL="0">
              <a:buNone/>
            </a:pPr>
            <a:r>
              <a:rPr lang="en-US" sz="900" dirty="0">
                <a:solidFill>
                  <a:srgbClr val="D6E4F0"/>
                </a:solidFill>
                <a:latin typeface="Calibri" pitchFamily="34" charset="0"/>
                <a:ea typeface="Calibri" pitchFamily="34" charset="-122"/>
                <a:cs typeface="Calibri" pitchFamily="34" charset="-120"/>
              </a:rPr>
              <a:t>MQTT، المُقنَّن في ISO/IEC 20922، هو بروتوكول النشر-الاشتراك الخفيف الأوسع استخداماً في قياس الأداء الصناعي (IoT). مُصمَّم للتسليم عالي الموثوقية على شبكات ضعيفة النطاق الترددي — تماماً كبيئات طوابق المصانع والمحطات النائية.</a:t>
            </a:r>
            <a:endParaRPr lang="en-US" sz="900" dirty="0"/>
          </a:p>
          <a:p>
            <a:pPr algn="r" indent="0" marL="0">
              <a:buNone/>
            </a:pPr>
            <a:endParaRPr lang="en-US" sz="900" dirty="0"/>
          </a:p>
          <a:p>
            <a:pPr algn="r" indent="0" marL="0">
              <a:buNone/>
            </a:pPr>
            <a:r>
              <a:rPr lang="en-US" sz="900" dirty="0">
                <a:solidFill>
                  <a:srgbClr val="D6E4F0"/>
                </a:solidFill>
                <a:latin typeface="Calibri" pitchFamily="34" charset="0"/>
                <a:ea typeface="Calibri" pitchFamily="34" charset="-122"/>
                <a:cs typeface="Calibri" pitchFamily="34" charset="-120"/>
              </a:rPr>
              <a:t>وحدة ميزان (mizan_mqtt.c) تستخدم مكتبة Eclipse Mosquitto لنشر قراءات الحساسات والتنبيهات والتقارير إلى الوسيط فورياً. التنبيهات على mizan/alerts، التقارير على mizan/reports/&lt;id&gt;. أداة mqtt_monitor.py تشترك في mizan/# لعرض جميع البيانات حياً.</a:t>
            </a:r>
            <a:endParaRPr lang="en-US" sz="900" dirty="0"/>
          </a:p>
        </p:txBody>
      </p:sp>
      <p:sp>
        <p:nvSpPr>
          <p:cNvPr id="22" name="Shape 20"/>
          <p:cNvSpPr/>
          <p:nvPr/>
        </p:nvSpPr>
        <p:spPr>
          <a:xfrm>
            <a:off x="4818888" y="4069080"/>
            <a:ext cx="1183234" cy="219456"/>
          </a:xfrm>
          <a:prstGeom prst="roundRect">
            <a:avLst>
              <a:gd name="adj" fmla="val 16667"/>
            </a:avLst>
          </a:prstGeom>
          <a:solidFill>
            <a:srgbClr val="1A3A5C"/>
          </a:solidFill>
          <a:ln w="6350">
            <a:solidFill>
              <a:srgbClr val="C9A84C"/>
            </a:solidFill>
            <a:prstDash val="solid"/>
          </a:ln>
        </p:spPr>
      </p:sp>
      <p:sp>
        <p:nvSpPr>
          <p:cNvPr id="23" name="Text 21"/>
          <p:cNvSpPr/>
          <p:nvPr/>
        </p:nvSpPr>
        <p:spPr>
          <a:xfrm>
            <a:off x="4818888" y="4069080"/>
            <a:ext cx="1183234"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ISO/IEC 20922</a:t>
            </a:r>
            <a:endParaRPr lang="en-US" sz="700" dirty="0"/>
          </a:p>
        </p:txBody>
      </p:sp>
      <p:sp>
        <p:nvSpPr>
          <p:cNvPr id="24" name="Shape 22"/>
          <p:cNvSpPr/>
          <p:nvPr/>
        </p:nvSpPr>
        <p:spPr>
          <a:xfrm>
            <a:off x="6066130" y="4069080"/>
            <a:ext cx="1254557" cy="219456"/>
          </a:xfrm>
          <a:prstGeom prst="roundRect">
            <a:avLst>
              <a:gd name="adj" fmla="val 16667"/>
            </a:avLst>
          </a:prstGeom>
          <a:solidFill>
            <a:srgbClr val="1A3A5C"/>
          </a:solidFill>
          <a:ln w="6350">
            <a:solidFill>
              <a:srgbClr val="C9A84C"/>
            </a:solidFill>
            <a:prstDash val="solid"/>
          </a:ln>
        </p:spPr>
      </p:sp>
      <p:sp>
        <p:nvSpPr>
          <p:cNvPr id="25" name="Text 23"/>
          <p:cNvSpPr/>
          <p:nvPr/>
        </p:nvSpPr>
        <p:spPr>
          <a:xfrm>
            <a:off x="6066130" y="4069080"/>
            <a:ext cx="1254557"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وسيط Mosquitto</a:t>
            </a:r>
            <a:endParaRPr lang="en-US" sz="700" dirty="0"/>
          </a:p>
        </p:txBody>
      </p:sp>
      <p:sp>
        <p:nvSpPr>
          <p:cNvPr id="26" name="Shape 24"/>
          <p:cNvSpPr/>
          <p:nvPr/>
        </p:nvSpPr>
        <p:spPr>
          <a:xfrm>
            <a:off x="7384694" y="4069080"/>
            <a:ext cx="1325880" cy="219456"/>
          </a:xfrm>
          <a:prstGeom prst="roundRect">
            <a:avLst>
              <a:gd name="adj" fmla="val 16667"/>
            </a:avLst>
          </a:prstGeom>
          <a:solidFill>
            <a:srgbClr val="1A3A5C"/>
          </a:solidFill>
          <a:ln w="6350">
            <a:solidFill>
              <a:srgbClr val="C9A84C"/>
            </a:solidFill>
            <a:prstDash val="solid"/>
          </a:ln>
        </p:spPr>
      </p:sp>
      <p:sp>
        <p:nvSpPr>
          <p:cNvPr id="27" name="Text 25"/>
          <p:cNvSpPr/>
          <p:nvPr/>
        </p:nvSpPr>
        <p:spPr>
          <a:xfrm>
            <a:off x="7384694" y="4069080"/>
            <a:ext cx="1325880"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جودة خدمة QoS 1</a:t>
            </a:r>
            <a:endParaRPr lang="en-US" sz="700" dirty="0"/>
          </a:p>
        </p:txBody>
      </p:sp>
      <p:sp>
        <p:nvSpPr>
          <p:cNvPr id="28" name="Shape 26"/>
          <p:cNvSpPr/>
          <p:nvPr/>
        </p:nvSpPr>
        <p:spPr>
          <a:xfrm>
            <a:off x="8774582" y="4069080"/>
            <a:ext cx="1254557" cy="219456"/>
          </a:xfrm>
          <a:prstGeom prst="roundRect">
            <a:avLst>
              <a:gd name="adj" fmla="val 16667"/>
            </a:avLst>
          </a:prstGeom>
          <a:solidFill>
            <a:srgbClr val="1A3A5C"/>
          </a:solidFill>
          <a:ln w="6350">
            <a:solidFill>
              <a:srgbClr val="C9A84C"/>
            </a:solidFill>
            <a:prstDash val="solid"/>
          </a:ln>
        </p:spPr>
      </p:sp>
      <p:sp>
        <p:nvSpPr>
          <p:cNvPr id="29" name="Text 27"/>
          <p:cNvSpPr/>
          <p:nvPr/>
        </p:nvSpPr>
        <p:spPr>
          <a:xfrm>
            <a:off x="8774582" y="4069080"/>
            <a:ext cx="1254557"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مواضيع mizan/#</a:t>
            </a:r>
            <a:endParaRPr lang="en-US" sz="700" dirty="0"/>
          </a:p>
        </p:txBody>
      </p:sp>
      <p:sp>
        <p:nvSpPr>
          <p:cNvPr id="30" name="Shape 28"/>
          <p:cNvSpPr/>
          <p:nvPr/>
        </p:nvSpPr>
        <p:spPr>
          <a:xfrm>
            <a:off x="4818888" y="4325112"/>
            <a:ext cx="1371600" cy="219456"/>
          </a:xfrm>
          <a:prstGeom prst="roundRect">
            <a:avLst>
              <a:gd name="adj" fmla="val 16667"/>
            </a:avLst>
          </a:prstGeom>
          <a:solidFill>
            <a:srgbClr val="1A3A5C"/>
          </a:solidFill>
          <a:ln w="6350">
            <a:solidFill>
              <a:srgbClr val="C9A84C"/>
            </a:solidFill>
            <a:prstDash val="solid"/>
          </a:ln>
        </p:spPr>
      </p:sp>
      <p:sp>
        <p:nvSpPr>
          <p:cNvPr id="31" name="Text 29"/>
          <p:cNvSpPr/>
          <p:nvPr/>
        </p:nvSpPr>
        <p:spPr>
          <a:xfrm>
            <a:off x="4818888" y="4325112"/>
            <a:ext cx="1371600" cy="219456"/>
          </a:xfrm>
          <a:prstGeom prst="rect">
            <a:avLst/>
          </a:prstGeom>
          <a:noFill/>
          <a:ln/>
        </p:spPr>
        <p:txBody>
          <a:bodyPr wrap="square" rtlCol="0" anchor="ctr"/>
          <a:lstStyle/>
          <a:p>
            <a:pPr algn="ctr" indent="0" marL="0">
              <a:buNone/>
            </a:pPr>
            <a:r>
              <a:rPr lang="en-US" sz="700" dirty="0">
                <a:solidFill>
                  <a:srgbClr val="E8C87A"/>
                </a:solidFill>
                <a:latin typeface="Calibri" pitchFamily="34" charset="0"/>
                <a:ea typeface="Calibri" pitchFamily="34" charset="-122"/>
                <a:cs typeface="Calibri" pitchFamily="34" charset="-120"/>
              </a:rPr>
              <a:t>متوافق مع Node-RED</a:t>
            </a:r>
            <a:endParaRPr lang="en-US" sz="700" dirty="0"/>
          </a:p>
        </p:txBody>
      </p:sp>
      <p:sp>
        <p:nvSpPr>
          <p:cNvPr id="32" name="Shape 30"/>
          <p:cNvSpPr/>
          <p:nvPr/>
        </p:nvSpPr>
        <p:spPr>
          <a:xfrm>
            <a:off x="256032" y="4370832"/>
            <a:ext cx="8631936" cy="658368"/>
          </a:xfrm>
          <a:prstGeom prst="roundRect">
            <a:avLst>
              <a:gd name="adj" fmla="val 9722"/>
            </a:avLst>
          </a:prstGeom>
          <a:solidFill>
            <a:srgbClr val="112240"/>
          </a:solidFill>
          <a:ln w="12700">
            <a:solidFill>
              <a:srgbClr val="C9A84C"/>
            </a:solidFill>
            <a:prstDash val="solid"/>
          </a:ln>
        </p:spPr>
      </p:sp>
      <p:sp>
        <p:nvSpPr>
          <p:cNvPr id="33" name="Text 31"/>
          <p:cNvSpPr/>
          <p:nvPr/>
        </p:nvSpPr>
        <p:spPr>
          <a:xfrm>
            <a:off x="411480" y="4407408"/>
            <a:ext cx="8321040" cy="585216"/>
          </a:xfrm>
          <a:prstGeom prst="rect">
            <a:avLst/>
          </a:prstGeom>
          <a:noFill/>
          <a:ln/>
        </p:spPr>
        <p:txBody>
          <a:bodyPr wrap="square" rtlCol="0" anchor="ctr"/>
          <a:lstStyle/>
          <a:p>
            <a:pPr algn="r" indent="0" marL="0">
              <a:buNone/>
            </a:pPr>
            <a:r>
              <a:rPr lang="en-US" sz="950" dirty="0">
                <a:solidFill>
                  <a:srgbClr val="D6E4F0"/>
                </a:solidFill>
                <a:latin typeface="Calibri" pitchFamily="34" charset="0"/>
                <a:ea typeface="Calibri" pitchFamily="34" charset="-122"/>
                <a:cs typeface="Calibri" pitchFamily="34" charset="-120"/>
              </a:rPr>
              <a:t>نظراً لاستهداف ميزان بروتوكولَي Modbus TCP وMQTT — معياريْن يدعمهما آلاف الأجهزة — يمكن تشغيل أي برنامج مُجمَّع بميزان دون تعديل على أي PLC أو حساس أو مشغِّل متوافق. استبدال المُحاكي بأجهزة حقيقية لا يتطلب سوى تغيير عنوان IP في كتلة جهاز. الإضافات المستقبلية (OPC-UA، MQTT-SN، HTTP REST) تتبع نفس نمط المحوِّل دون تعديل اللغة أو المُجمِّع.</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2240"/>
          </a:solidFill>
          <a:ln w="12700">
            <a:solidFill>
              <a:srgbClr val="112240"/>
            </a:solidFill>
            <a:prstDash val="solid"/>
          </a:ln>
        </p:spPr>
      </p:sp>
      <p:sp>
        <p:nvSpPr>
          <p:cNvPr id="3" name="Text 1"/>
          <p:cNvSpPr/>
          <p:nvPr/>
        </p:nvSpPr>
        <p:spPr>
          <a:xfrm>
            <a:off x="457200" y="45720"/>
            <a:ext cx="8229600" cy="777240"/>
          </a:xfrm>
          <a:prstGeom prst="rect">
            <a:avLst/>
          </a:prstGeom>
          <a:noFill/>
          <a:ln/>
        </p:spPr>
        <p:txBody>
          <a:bodyPr wrap="square" rtlCol="0" anchor="ctr"/>
          <a:lstStyle/>
          <a:p>
            <a:pPr algn="r" indent="0" marL="0">
              <a:buNone/>
            </a:pPr>
            <a:r>
              <a:rPr lang="en-US" sz="2300" b="1" dirty="0">
                <a:solidFill>
                  <a:srgbClr val="C9A84C"/>
                </a:solidFill>
                <a:latin typeface="Cambria" pitchFamily="34" charset="0"/>
                <a:ea typeface="Cambria" pitchFamily="34" charset="-122"/>
                <a:cs typeface="Cambria" pitchFamily="34" charset="-120"/>
              </a:rPr>
              <a:t>الخلاصة · الإسهامات · التوجهات المستقبلية</a:t>
            </a:r>
            <a:endParaRPr lang="en-US" sz="2300" dirty="0"/>
          </a:p>
        </p:txBody>
      </p:sp>
      <p:sp>
        <p:nvSpPr>
          <p:cNvPr id="4" name="Shape 2"/>
          <p:cNvSpPr/>
          <p:nvPr/>
        </p:nvSpPr>
        <p:spPr>
          <a:xfrm>
            <a:off x="256032" y="960120"/>
            <a:ext cx="5349240" cy="1389888"/>
          </a:xfrm>
          <a:prstGeom prst="roundRect">
            <a:avLst>
              <a:gd name="adj" fmla="val 4605"/>
            </a:avLst>
          </a:prstGeom>
          <a:solidFill>
            <a:srgbClr val="112240"/>
          </a:solidFill>
          <a:ln w="12700">
            <a:solidFill>
              <a:srgbClr val="1A3A5C"/>
            </a:solidFill>
            <a:prstDash val="solid"/>
          </a:ln>
          <a:effectLst>
            <a:outerShdw sx="100000" sy="100000" kx="0" ky="0" algn="bl" rotWithShape="0" blurRad="101600" dist="25400" dir="2700000">
              <a:srgbClr val="000000">
                <a:alpha val="22000"/>
              </a:srgbClr>
            </a:outerShdw>
          </a:effectLst>
        </p:spPr>
      </p:sp>
      <p:sp>
        <p:nvSpPr>
          <p:cNvPr id="5" name="Text 3"/>
          <p:cNvSpPr/>
          <p:nvPr/>
        </p:nvSpPr>
        <p:spPr>
          <a:xfrm>
            <a:off x="384048" y="1005840"/>
            <a:ext cx="5074920" cy="301752"/>
          </a:xfrm>
          <a:prstGeom prst="rect">
            <a:avLst/>
          </a:prstGeom>
          <a:noFill/>
          <a:ln/>
        </p:spPr>
        <p:txBody>
          <a:bodyPr wrap="square" rtlCol="0" anchor="ctr"/>
          <a:lstStyle/>
          <a:p>
            <a:pPr algn="r" indent="0" marL="0">
              <a:buNone/>
            </a:pPr>
            <a:r>
              <a:rPr lang="en-US" sz="1300" b="1" dirty="0">
                <a:solidFill>
                  <a:srgbClr val="C9A84C"/>
                </a:solidFill>
                <a:latin typeface="Cambria" pitchFamily="34" charset="0"/>
                <a:ea typeface="Cambria" pitchFamily="34" charset="-122"/>
                <a:cs typeface="Cambria" pitchFamily="34" charset="-120"/>
              </a:rPr>
              <a:t>ما تم بناؤه</a:t>
            </a:r>
            <a:endParaRPr lang="en-US" sz="1300" dirty="0"/>
          </a:p>
        </p:txBody>
      </p:sp>
      <p:sp>
        <p:nvSpPr>
          <p:cNvPr id="6" name="Text 4"/>
          <p:cNvSpPr/>
          <p:nvPr/>
        </p:nvSpPr>
        <p:spPr>
          <a:xfrm>
            <a:off x="384048" y="1298448"/>
            <a:ext cx="5074920" cy="1005840"/>
          </a:xfrm>
          <a:prstGeom prst="rect">
            <a:avLst/>
          </a:prstGeom>
          <a:noFill/>
          <a:ln/>
        </p:spPr>
        <p:txBody>
          <a:bodyPr wrap="square" rtlCol="0" anchor="t"/>
          <a:lstStyle/>
          <a:p>
            <a:pPr algn="r" indent="0" marL="0">
              <a:buNone/>
            </a:pPr>
            <a:r>
              <a:rPr lang="en-US" sz="950" dirty="0">
                <a:solidFill>
                  <a:srgbClr val="D6E4F0"/>
                </a:solidFill>
                <a:latin typeface="Calibri" pitchFamily="34" charset="0"/>
                <a:ea typeface="Calibri" pitchFamily="34" charset="-122"/>
                <a:cs typeface="Calibri" pitchFamily="34" charset="-120"/>
              </a:rPr>
              <a:t>ميزان مُجمِّع كامل موجَّه للإنتاج للغة DSL عربية متخصصة. من ملف مصدر .mizan واحد، يُنفِّذ:
</a:t>
            </a:r>
            <a:pPr algn="r" indent="0" marL="0">
              <a:buNone/>
            </a:pPr>
            <a:r>
              <a:rPr lang="en-US" sz="950" b="1" dirty="0">
                <a:solidFill>
                  <a:srgbClr val="E8C87A"/>
                </a:solidFill>
                <a:latin typeface="Calibri" pitchFamily="34" charset="0"/>
                <a:ea typeface="Calibri" pitchFamily="34" charset="-122"/>
                <a:cs typeface="Calibri" pitchFamily="34" charset="-120"/>
              </a:rPr>
              <a:t>تحليل لفظي ونحوي بـ ANTLR4  ←  بناء AST  ←  تحقق دلالي بمَسَّيْن مع تحليل أبعاد الوحدات  ←  توليد LLVM IR  ←  تحسين بـ PassManager  ←  إصدار ملف تنفيذي أصلي  ←  ربط وقت التشغيل (Modbus + MQTT)</a:t>
            </a:r>
            <a:endParaRPr lang="en-US" sz="950" dirty="0"/>
          </a:p>
        </p:txBody>
      </p:sp>
      <p:sp>
        <p:nvSpPr>
          <p:cNvPr id="7" name="Shape 5"/>
          <p:cNvSpPr/>
          <p:nvPr/>
        </p:nvSpPr>
        <p:spPr>
          <a:xfrm>
            <a:off x="256032" y="2450592"/>
            <a:ext cx="2578608" cy="667512"/>
          </a:xfrm>
          <a:prstGeom prst="roundRect">
            <a:avLst>
              <a:gd name="adj" fmla="val 8219"/>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8" name="Text 6"/>
          <p:cNvSpPr/>
          <p:nvPr/>
        </p:nvSpPr>
        <p:spPr>
          <a:xfrm>
            <a:off x="347472" y="2496312"/>
            <a:ext cx="2414016" cy="576072"/>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أول مُجمِّع عربي لـ SCADA
</a:t>
            </a:r>
            <a:pPr algn="r" indent="0" marL="0">
              <a:buNone/>
            </a:pPr>
            <a:r>
              <a:rPr lang="en-US" sz="850" dirty="0">
                <a:solidFill>
                  <a:srgbClr val="D6E4F0"/>
                </a:solidFill>
                <a:latin typeface="Calibri" pitchFamily="34" charset="0"/>
                <a:ea typeface="Calibri" pitchFamily="34" charset="-122"/>
                <a:cs typeface="Calibri" pitchFamily="34" charset="-120"/>
              </a:rPr>
              <a:t>لا يوجد مُجمِّع صناعي بصياغة عربية مماثل. ميزان يسدُّ الفجوة اللغوية للمهندسين في العالم العربي.</a:t>
            </a:r>
            <a:endParaRPr lang="en-US" sz="950" dirty="0"/>
          </a:p>
        </p:txBody>
      </p:sp>
      <p:sp>
        <p:nvSpPr>
          <p:cNvPr id="9" name="Shape 7"/>
          <p:cNvSpPr/>
          <p:nvPr/>
        </p:nvSpPr>
        <p:spPr>
          <a:xfrm>
            <a:off x="2916936" y="2450592"/>
            <a:ext cx="2578608" cy="667512"/>
          </a:xfrm>
          <a:prstGeom prst="roundRect">
            <a:avLst>
              <a:gd name="adj" fmla="val 8219"/>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10" name="Text 8"/>
          <p:cNvSpPr/>
          <p:nvPr/>
        </p:nvSpPr>
        <p:spPr>
          <a:xfrm>
            <a:off x="3008376" y="2496312"/>
            <a:ext cx="2414016" cy="576072"/>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نظام أنواع بمستوى السلامة
</a:t>
            </a:r>
            <a:pPr algn="r" indent="0" marL="0">
              <a:buNone/>
            </a:pPr>
            <a:r>
              <a:rPr lang="en-US" sz="850" dirty="0">
                <a:solidFill>
                  <a:srgbClr val="D6E4F0"/>
                </a:solidFill>
                <a:latin typeface="Calibri" pitchFamily="34" charset="0"/>
                <a:ea typeface="Calibri" pitchFamily="34" charset="-122"/>
                <a:cs typeface="Calibri" pitchFamily="34" charset="-120"/>
              </a:rPr>
              <a:t>التحليل الأبعادي وفق ISO 80000 يمنع أخطاء الوحدات الفيزيائية قبل أي تشغيل على الأجهزة الفعلية.</a:t>
            </a:r>
            <a:endParaRPr lang="en-US" sz="950" dirty="0"/>
          </a:p>
        </p:txBody>
      </p:sp>
      <p:sp>
        <p:nvSpPr>
          <p:cNvPr id="11" name="Shape 9"/>
          <p:cNvSpPr/>
          <p:nvPr/>
        </p:nvSpPr>
        <p:spPr>
          <a:xfrm>
            <a:off x="256032" y="3200400"/>
            <a:ext cx="2578608" cy="667512"/>
          </a:xfrm>
          <a:prstGeom prst="roundRect">
            <a:avLst>
              <a:gd name="adj" fmla="val 8219"/>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12" name="Text 10"/>
          <p:cNvSpPr/>
          <p:nvPr/>
        </p:nvSpPr>
        <p:spPr>
          <a:xfrm>
            <a:off x="347472" y="3246120"/>
            <a:ext cx="2414016" cy="576072"/>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وقت تشغيل بمعايير قياسية
</a:t>
            </a:r>
            <a:pPr algn="r" indent="0" marL="0">
              <a:buNone/>
            </a:pPr>
            <a:r>
              <a:rPr lang="en-US" sz="850" dirty="0">
                <a:solidFill>
                  <a:srgbClr val="D6E4F0"/>
                </a:solidFill>
                <a:latin typeface="Calibri" pitchFamily="34" charset="0"/>
                <a:ea typeface="Calibri" pitchFamily="34" charset="-122"/>
                <a:cs typeface="Calibri" pitchFamily="34" charset="-120"/>
              </a:rPr>
              <a:t>Modbus TCP وفق IEC 61158 وMQTT وفق ISO/IEC 20922 يجعلان كل برنامج مُجمَّع قابلاً للنشر فوراً على البنية التحتية الصناعية القائمة.</a:t>
            </a:r>
            <a:endParaRPr lang="en-US" sz="950" dirty="0"/>
          </a:p>
        </p:txBody>
      </p:sp>
      <p:sp>
        <p:nvSpPr>
          <p:cNvPr id="13" name="Shape 11"/>
          <p:cNvSpPr/>
          <p:nvPr/>
        </p:nvSpPr>
        <p:spPr>
          <a:xfrm>
            <a:off x="2916936" y="3200400"/>
            <a:ext cx="2578608" cy="667512"/>
          </a:xfrm>
          <a:prstGeom prst="roundRect">
            <a:avLst>
              <a:gd name="adj" fmla="val 8219"/>
            </a:avLst>
          </a:prstGeom>
          <a:solidFill>
            <a:srgbClr val="112240"/>
          </a:solidFill>
          <a:ln w="9525">
            <a:solidFill>
              <a:srgbClr val="1A3A5C"/>
            </a:solidFill>
            <a:prstDash val="solid"/>
          </a:ln>
          <a:effectLst>
            <a:outerShdw sx="100000" sy="100000" kx="0" ky="0" algn="bl" rotWithShape="0" blurRad="101600" dist="25400" dir="2700000">
              <a:srgbClr val="000000">
                <a:alpha val="22000"/>
              </a:srgbClr>
            </a:outerShdw>
          </a:effectLst>
        </p:spPr>
      </p:sp>
      <p:sp>
        <p:nvSpPr>
          <p:cNvPr id="14" name="Text 12"/>
          <p:cNvSpPr/>
          <p:nvPr/>
        </p:nvSpPr>
        <p:spPr>
          <a:xfrm>
            <a:off x="3008376" y="3246120"/>
            <a:ext cx="2414016" cy="576072"/>
          </a:xfrm>
          <a:prstGeom prst="rect">
            <a:avLst/>
          </a:prstGeom>
          <a:noFill/>
          <a:ln/>
        </p:spPr>
        <p:txBody>
          <a:bodyPr wrap="square" rtlCol="0" anchor="t"/>
          <a:lstStyle/>
          <a:p>
            <a:pPr algn="r" indent="0" marL="0">
              <a:buNone/>
            </a:pPr>
            <a:r>
              <a:rPr lang="en-US" sz="950" b="1" dirty="0">
                <a:solidFill>
                  <a:srgbClr val="E8C87A"/>
                </a:solidFill>
                <a:latin typeface="Calibri" pitchFamily="34" charset="0"/>
                <a:ea typeface="Calibri" pitchFamily="34" charset="-122"/>
                <a:cs typeface="Calibri" pitchFamily="34" charset="-120"/>
              </a:rPr>
              <a:t>بيئة محاكاة متكاملة
</a:t>
            </a:r>
            <a:pPr algn="r" indent="0" marL="0">
              <a:buNone/>
            </a:pPr>
            <a:r>
              <a:rPr lang="en-US" sz="850" dirty="0">
                <a:solidFill>
                  <a:srgbClr val="D6E4F0"/>
                </a:solidFill>
                <a:latin typeface="Calibri" pitchFamily="34" charset="0"/>
                <a:ea typeface="Calibri" pitchFamily="34" charset="-122"/>
                <a:cs typeface="Calibri" pitchFamily="34" charset="-120"/>
              </a:rPr>
              <a:t>مُحاكي Modbus للمنشأة + مراقب MQTT يُتيحان اختباراً شاملاً دون الحاجة إلى أجهزة فعلية.</a:t>
            </a:r>
            <a:endParaRPr lang="en-US" sz="950" dirty="0"/>
          </a:p>
        </p:txBody>
      </p:sp>
      <p:sp>
        <p:nvSpPr>
          <p:cNvPr id="15" name="Shape 13"/>
          <p:cNvSpPr/>
          <p:nvPr/>
        </p:nvSpPr>
        <p:spPr>
          <a:xfrm>
            <a:off x="256032" y="3950208"/>
            <a:ext cx="5349240" cy="640080"/>
          </a:xfrm>
          <a:prstGeom prst="roundRect">
            <a:avLst>
              <a:gd name="adj" fmla="val 8571"/>
            </a:avLst>
          </a:prstGeom>
          <a:solidFill>
            <a:srgbClr val="112240"/>
          </a:solidFill>
          <a:ln w="12700">
            <a:solidFill>
              <a:srgbClr val="1A3A5C"/>
            </a:solidFill>
            <a:prstDash val="solid"/>
          </a:ln>
        </p:spPr>
      </p:sp>
      <p:sp>
        <p:nvSpPr>
          <p:cNvPr id="16" name="Text 14"/>
          <p:cNvSpPr/>
          <p:nvPr/>
        </p:nvSpPr>
        <p:spPr>
          <a:xfrm>
            <a:off x="384048" y="3977640"/>
            <a:ext cx="5074920" cy="246888"/>
          </a:xfrm>
          <a:prstGeom prst="rect">
            <a:avLst/>
          </a:prstGeom>
          <a:noFill/>
          <a:ln/>
        </p:spPr>
        <p:txBody>
          <a:bodyPr wrap="square" rtlCol="0" anchor="ctr"/>
          <a:lstStyle/>
          <a:p>
            <a:pPr algn="r" indent="0" marL="0">
              <a:buNone/>
            </a:pPr>
            <a:r>
              <a:rPr lang="en-US" sz="1100" b="1" dirty="0">
                <a:solidFill>
                  <a:srgbClr val="C9A84C"/>
                </a:solidFill>
                <a:latin typeface="Cambria" pitchFamily="34" charset="0"/>
                <a:ea typeface="Cambria" pitchFamily="34" charset="-122"/>
                <a:cs typeface="Cambria" pitchFamily="34" charset="-120"/>
              </a:rPr>
              <a:t>التوجهات المستقبلية</a:t>
            </a:r>
            <a:endParaRPr lang="en-US" sz="1100" dirty="0"/>
          </a:p>
        </p:txBody>
      </p:sp>
      <p:sp>
        <p:nvSpPr>
          <p:cNvPr id="17" name="Text 15"/>
          <p:cNvSpPr/>
          <p:nvPr/>
        </p:nvSpPr>
        <p:spPr>
          <a:xfrm>
            <a:off x="384048" y="4215384"/>
            <a:ext cx="5074920" cy="338328"/>
          </a:xfrm>
          <a:prstGeom prst="rect">
            <a:avLst/>
          </a:prstGeom>
          <a:noFill/>
          <a:ln/>
        </p:spPr>
        <p:txBody>
          <a:bodyPr wrap="square" rtlCol="0" anchor="t"/>
          <a:lstStyle/>
          <a:p>
            <a:pPr algn="r" indent="0" marL="0">
              <a:buNone/>
            </a:pPr>
            <a:r>
              <a:rPr lang="en-US" sz="900" dirty="0">
                <a:solidFill>
                  <a:srgbClr val="D6E4F0"/>
                </a:solidFill>
                <a:latin typeface="Calibri" pitchFamily="34" charset="0"/>
                <a:ea typeface="Calibri" pitchFamily="34" charset="-122"/>
                <a:cs typeface="Calibri" pitchFamily="34" charset="-120"/>
              </a:rPr>
              <a:t>محوِّل OPC-UA  ·  خادم LSP عربي للـ IDE  ·  اعتماد IEC 61511 للسلامة الوظيفية  ·  تقاطع برمجي لأجهزة ARM المضمَّنة  ·  توليد قواعد بمساعدة الذكاء الاصطناعي من مخططات P&amp;ID</a:t>
            </a:r>
            <a:endParaRPr lang="en-US" sz="900" dirty="0"/>
          </a:p>
        </p:txBody>
      </p:sp>
      <p:sp>
        <p:nvSpPr>
          <p:cNvPr id="18" name="Shape 16"/>
          <p:cNvSpPr/>
          <p:nvPr/>
        </p:nvSpPr>
        <p:spPr>
          <a:xfrm>
            <a:off x="5742432" y="960120"/>
            <a:ext cx="3145536" cy="3630168"/>
          </a:xfrm>
          <a:prstGeom prst="roundRect">
            <a:avLst>
              <a:gd name="adj" fmla="val 2035"/>
            </a:avLst>
          </a:prstGeom>
          <a:solidFill>
            <a:srgbClr val="112240"/>
          </a:solidFill>
          <a:ln w="12700">
            <a:solidFill>
              <a:srgbClr val="C9A84C"/>
            </a:solidFill>
            <a:prstDash val="solid"/>
          </a:ln>
          <a:effectLst>
            <a:outerShdw sx="100000" sy="100000" kx="0" ky="0" algn="bl" rotWithShape="0" blurRad="101600" dist="25400" dir="2700000">
              <a:srgbClr val="000000">
                <a:alpha val="22000"/>
              </a:srgbClr>
            </a:outerShdw>
          </a:effectLst>
        </p:spPr>
      </p:sp>
      <p:sp>
        <p:nvSpPr>
          <p:cNvPr id="19" name="Text 17"/>
          <p:cNvSpPr/>
          <p:nvPr/>
        </p:nvSpPr>
        <p:spPr>
          <a:xfrm>
            <a:off x="5870448" y="1005840"/>
            <a:ext cx="2880360" cy="301752"/>
          </a:xfrm>
          <a:prstGeom prst="rect">
            <a:avLst/>
          </a:prstGeom>
          <a:noFill/>
          <a:ln/>
        </p:spPr>
        <p:txBody>
          <a:bodyPr wrap="square" rtlCol="0" anchor="ctr"/>
          <a:lstStyle/>
          <a:p>
            <a:pPr algn="r" indent="0" marL="0">
              <a:buNone/>
            </a:pPr>
            <a:r>
              <a:rPr lang="en-US" sz="1200" b="1" dirty="0">
                <a:solidFill>
                  <a:srgbClr val="C9A84C"/>
                </a:solidFill>
                <a:latin typeface="Cambria" pitchFamily="34" charset="0"/>
                <a:ea typeface="Cambria" pitchFamily="34" charset="-122"/>
                <a:cs typeface="Cambria" pitchFamily="34" charset="-120"/>
              </a:rPr>
              <a:t>قدرات اللغة بإيجاز</a:t>
            </a:r>
            <a:endParaRPr lang="en-US" sz="1200" dirty="0"/>
          </a:p>
        </p:txBody>
      </p:sp>
      <p:sp>
        <p:nvSpPr>
          <p:cNvPr id="20" name="Text 18"/>
          <p:cNvSpPr/>
          <p:nvPr/>
        </p:nvSpPr>
        <p:spPr>
          <a:xfrm>
            <a:off x="5870448" y="1325880"/>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القواعد: </a:t>
            </a:r>
            <a:pPr algn="r" indent="0" marL="0">
              <a:buNone/>
            </a:pPr>
            <a:r>
              <a:rPr lang="en-US" sz="800" dirty="0">
                <a:solidFill>
                  <a:srgbClr val="D6E4F0"/>
                </a:solidFill>
                <a:latin typeface="Calibri" pitchFamily="34" charset="0"/>
                <a:ea typeface="Calibri" pitchFamily="34" charset="-122"/>
                <a:cs typeface="Calibri" pitchFamily="34" charset="-120"/>
              </a:rPr>
              <a:t>ANTLR4 رسمي، صياغة عربية كاملة، ترقيم عربي/لاتيني</a:t>
            </a:r>
            <a:endParaRPr lang="en-US" sz="850" dirty="0"/>
          </a:p>
        </p:txBody>
      </p:sp>
      <p:sp>
        <p:nvSpPr>
          <p:cNvPr id="21" name="Text 19"/>
          <p:cNvSpPr/>
          <p:nvPr/>
        </p:nvSpPr>
        <p:spPr>
          <a:xfrm>
            <a:off x="5870448" y="1650492"/>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الأنواع: </a:t>
            </a:r>
            <a:pPr algn="r" indent="0" marL="0">
              <a:buNone/>
            </a:pPr>
            <a:r>
              <a:rPr lang="en-US" sz="800" dirty="0">
                <a:solidFill>
                  <a:srgbClr val="D6E4F0"/>
                </a:solidFill>
                <a:latin typeface="Calibri" pitchFamily="34" charset="0"/>
                <a:ea typeface="Calibri" pitchFamily="34" charset="-122"/>
                <a:cs typeface="Calibri" pitchFamily="34" charset="-120"/>
              </a:rPr>
              <a:t>منطقي · صحيح · حقيقي + 40+ وحدة فيزيائية بتحليل أبعادي</a:t>
            </a:r>
            <a:endParaRPr lang="en-US" sz="850" dirty="0"/>
          </a:p>
        </p:txBody>
      </p:sp>
      <p:sp>
        <p:nvSpPr>
          <p:cNvPr id="22" name="Text 20"/>
          <p:cNvSpPr/>
          <p:nvPr/>
        </p:nvSpPr>
        <p:spPr>
          <a:xfrm>
            <a:off x="5870448" y="1975104"/>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التدفق: </a:t>
            </a:r>
            <a:pPr algn="r" indent="0" marL="0">
              <a:buNone/>
            </a:pPr>
            <a:r>
              <a:rPr lang="en-US" sz="800" dirty="0">
                <a:solidFill>
                  <a:srgbClr val="D6E4F0"/>
                </a:solidFill>
                <a:latin typeface="Calibri" pitchFamily="34" charset="0"/>
                <a:ea typeface="Calibri" pitchFamily="34" charset="-122"/>
                <a:cs typeface="Calibri" pitchFamily="34" charset="-120"/>
              </a:rPr>
              <a:t>اذا/والا · طالما · إجراءات بأنواع إرجاع</a:t>
            </a:r>
            <a:endParaRPr lang="en-US" sz="850" dirty="0"/>
          </a:p>
        </p:txBody>
      </p:sp>
      <p:sp>
        <p:nvSpPr>
          <p:cNvPr id="23" name="Text 21"/>
          <p:cNvSpPr/>
          <p:nvPr/>
        </p:nvSpPr>
        <p:spPr>
          <a:xfrm>
            <a:off x="5870448" y="2299716"/>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الأوضاع: </a:t>
            </a:r>
            <a:pPr algn="r" indent="0" marL="0">
              <a:buNone/>
            </a:pPr>
            <a:r>
              <a:rPr lang="en-US" sz="800" dirty="0">
                <a:solidFill>
                  <a:srgbClr val="D6E4F0"/>
                </a:solidFill>
                <a:latin typeface="Calibri" pitchFamily="34" charset="0"/>
                <a:ea typeface="Calibri" pitchFamily="34" charset="-122"/>
                <a:cs typeface="Calibri" pitchFamily="34" charset="-120"/>
              </a:rPr>
              <a:t>اقلاع · تشغيل · صيانة · طوارئ + أوضاع مخصصة غير محدودة</a:t>
            </a:r>
            <a:endParaRPr lang="en-US" sz="850" dirty="0"/>
          </a:p>
        </p:txBody>
      </p:sp>
      <p:sp>
        <p:nvSpPr>
          <p:cNvPr id="24" name="Text 22"/>
          <p:cNvSpPr/>
          <p:nvPr/>
        </p:nvSpPr>
        <p:spPr>
          <a:xfrm>
            <a:off x="5870448" y="2624328"/>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الشروط: </a:t>
            </a:r>
            <a:pPr algn="r" indent="0" marL="0">
              <a:buNone/>
            </a:pPr>
            <a:r>
              <a:rPr lang="en-US" sz="800" dirty="0">
                <a:solidFill>
                  <a:srgbClr val="D6E4F0"/>
                </a:solidFill>
                <a:latin typeface="Calibri" pitchFamily="34" charset="0"/>
                <a:ea typeface="Calibri" pitchFamily="34" charset="-122"/>
                <a:cs typeface="Calibri" pitchFamily="34" charset="-120"/>
              </a:rPr>
              <a:t>منطقي · مقارنة · زمني (عند_استمرار) · تصويت (N/M)</a:t>
            </a:r>
            <a:endParaRPr lang="en-US" sz="850" dirty="0"/>
          </a:p>
        </p:txBody>
      </p:sp>
      <p:sp>
        <p:nvSpPr>
          <p:cNvPr id="25" name="Text 23"/>
          <p:cNvSpPr/>
          <p:nvPr/>
        </p:nvSpPr>
        <p:spPr>
          <a:xfrm>
            <a:off x="5870448" y="2948940"/>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صحة الحساسات: </a:t>
            </a:r>
            <a:pPr algn="r" indent="0" marL="0">
              <a:buNone/>
            </a:pPr>
            <a:r>
              <a:rPr lang="en-US" sz="800" dirty="0">
                <a:solidFill>
                  <a:srgbClr val="D6E4F0"/>
                </a:solidFill>
                <a:latin typeface="Calibri" pitchFamily="34" charset="0"/>
                <a:ea typeface="Calibri" pitchFamily="34" charset="-122"/>
                <a:cs typeface="Calibri" pitchFamily="34" charset="-120"/>
              </a:rPr>
              <a:t>انقطاع · قيمة ثابتة · خروج نطاق ← حرّاس LLVM</a:t>
            </a:r>
            <a:endParaRPr lang="en-US" sz="850" dirty="0"/>
          </a:p>
        </p:txBody>
      </p:sp>
      <p:sp>
        <p:nvSpPr>
          <p:cNvPr id="26" name="Text 24"/>
          <p:cNvSpPr/>
          <p:nvPr/>
        </p:nvSpPr>
        <p:spPr>
          <a:xfrm>
            <a:off x="5870448" y="3273552"/>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التجميع: </a:t>
            </a:r>
            <a:pPr algn="r" indent="0" marL="0">
              <a:buNone/>
            </a:pPr>
            <a:r>
              <a:rPr lang="en-US" sz="800" dirty="0">
                <a:solidFill>
                  <a:srgbClr val="D6E4F0"/>
                </a:solidFill>
                <a:latin typeface="Calibri" pitchFamily="34" charset="0"/>
                <a:ea typeface="Calibri" pitchFamily="34" charset="-122"/>
                <a:cs typeface="Calibri" pitchFamily="34" charset="-120"/>
              </a:rPr>
              <a:t>متوسط · اقصى · ادنى · مجموع · معدل_التغيير</a:t>
            </a:r>
            <a:endParaRPr lang="en-US" sz="850" dirty="0"/>
          </a:p>
        </p:txBody>
      </p:sp>
      <p:sp>
        <p:nvSpPr>
          <p:cNvPr id="27" name="Text 25"/>
          <p:cNvSpPr/>
          <p:nvPr/>
        </p:nvSpPr>
        <p:spPr>
          <a:xfrm>
            <a:off x="5870448" y="3598164"/>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التنبيهات: </a:t>
            </a:r>
            <a:pPr algn="r" indent="0" marL="0">
              <a:buNone/>
            </a:pPr>
            <a:r>
              <a:rPr lang="en-US" sz="800" dirty="0">
                <a:solidFill>
                  <a:srgbClr val="D6E4F0"/>
                </a:solidFill>
                <a:latin typeface="Calibri" pitchFamily="34" charset="0"/>
                <a:ea typeface="Calibri" pitchFamily="34" charset="-122"/>
                <a:cs typeface="Calibri" pitchFamily="34" charset="-120"/>
              </a:rPr>
              <a:t>3 مستويات + سلاسل تصعيد + بث MQTT</a:t>
            </a:r>
            <a:endParaRPr lang="en-US" sz="850" dirty="0"/>
          </a:p>
        </p:txBody>
      </p:sp>
      <p:sp>
        <p:nvSpPr>
          <p:cNvPr id="28" name="Text 26"/>
          <p:cNvSpPr/>
          <p:nvPr/>
        </p:nvSpPr>
        <p:spPr>
          <a:xfrm>
            <a:off x="5870448" y="3922776"/>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التقارير: </a:t>
            </a:r>
            <a:pPr algn="r" indent="0" marL="0">
              <a:buNone/>
            </a:pPr>
            <a:r>
              <a:rPr lang="en-US" sz="800" dirty="0">
                <a:solidFill>
                  <a:srgbClr val="D6E4F0"/>
                </a:solidFill>
                <a:latin typeface="Calibri" pitchFamily="34" charset="0"/>
                <a:ea typeface="Calibri" pitchFamily="34" charset="-122"/>
                <a:cs typeface="Calibri" pitchFamily="34" charset="-120"/>
              </a:rPr>
              <a:t>JSON/CSV: فوري · يومي · أسبوعي · شهري</a:t>
            </a:r>
            <a:endParaRPr lang="en-US" sz="850" dirty="0"/>
          </a:p>
        </p:txBody>
      </p:sp>
      <p:sp>
        <p:nvSpPr>
          <p:cNvPr id="29" name="Text 27"/>
          <p:cNvSpPr/>
          <p:nvPr/>
        </p:nvSpPr>
        <p:spPr>
          <a:xfrm>
            <a:off x="5870448" y="4247388"/>
            <a:ext cx="2880360" cy="310896"/>
          </a:xfrm>
          <a:prstGeom prst="rect">
            <a:avLst/>
          </a:prstGeom>
          <a:noFill/>
          <a:ln/>
        </p:spPr>
        <p:txBody>
          <a:bodyPr wrap="square" rtlCol="0" anchor="t"/>
          <a:lstStyle/>
          <a:p>
            <a:pPr algn="r" indent="0" marL="0">
              <a:buNone/>
            </a:pPr>
            <a:r>
              <a:rPr lang="en-US" sz="850" b="1" dirty="0">
                <a:solidFill>
                  <a:srgbClr val="E8C87A"/>
                </a:solidFill>
                <a:latin typeface="Calibri" pitchFamily="34" charset="0"/>
                <a:ea typeface="Calibri" pitchFamily="34" charset="-122"/>
                <a:cs typeface="Calibri" pitchFamily="34" charset="-120"/>
              </a:rPr>
              <a:t>الإخراج: </a:t>
            </a:r>
            <a:pPr algn="r" indent="0" marL="0">
              <a:buNone/>
            </a:pPr>
            <a:r>
              <a:rPr lang="en-US" sz="800" dirty="0">
                <a:solidFill>
                  <a:srgbClr val="D6E4F0"/>
                </a:solidFill>
                <a:latin typeface="Calibri" pitchFamily="34" charset="0"/>
                <a:ea typeface="Calibri" pitchFamily="34" charset="-122"/>
                <a:cs typeface="Calibri" pitchFamily="34" charset="-120"/>
              </a:rPr>
              <a:t>ملف تنفيذي أصلي عبر LLVM + clang/gcc (Linux/Windows)</a:t>
            </a:r>
            <a:endParaRPr lang="en-US" sz="850" dirty="0"/>
          </a:p>
        </p:txBody>
      </p:sp>
      <p:sp>
        <p:nvSpPr>
          <p:cNvPr id="30" name="Shape 28"/>
          <p:cNvSpPr/>
          <p:nvPr/>
        </p:nvSpPr>
        <p:spPr>
          <a:xfrm>
            <a:off x="256032" y="4681728"/>
            <a:ext cx="8631936" cy="338328"/>
          </a:xfrm>
          <a:prstGeom prst="roundRect">
            <a:avLst>
              <a:gd name="adj" fmla="val 16216"/>
            </a:avLst>
          </a:prstGeom>
          <a:solidFill>
            <a:srgbClr val="0D1F35"/>
          </a:solidFill>
          <a:ln w="19050">
            <a:solidFill>
              <a:srgbClr val="C9A84C"/>
            </a:solidFill>
            <a:prstDash val="solid"/>
          </a:ln>
        </p:spPr>
      </p:sp>
      <p:sp>
        <p:nvSpPr>
          <p:cNvPr id="31" name="Text 29"/>
          <p:cNvSpPr/>
          <p:nvPr/>
        </p:nvSpPr>
        <p:spPr>
          <a:xfrm>
            <a:off x="384048" y="4681728"/>
            <a:ext cx="8412480" cy="338328"/>
          </a:xfrm>
          <a:prstGeom prst="rect">
            <a:avLst/>
          </a:prstGeom>
          <a:noFill/>
          <a:ln/>
        </p:spPr>
        <p:txBody>
          <a:bodyPr wrap="square" rtlCol="0" anchor="ctr"/>
          <a:lstStyle/>
          <a:p>
            <a:pPr algn="ctr" indent="0" marL="0">
              <a:buNone/>
            </a:pPr>
            <a:r>
              <a:rPr lang="en-US" sz="1100" dirty="0">
                <a:solidFill>
                  <a:srgbClr val="7A9BBF"/>
                </a:solidFill>
                <a:latin typeface="Calibri" pitchFamily="34" charset="0"/>
                <a:ea typeface="Calibri" pitchFamily="34" charset="-122"/>
                <a:cs typeface="Calibri" pitchFamily="34" charset="-120"/>
              </a:rPr>
              <a:t>رابط المستودع:  </a:t>
            </a:r>
            <a:pPr algn="ctr" indent="0" marL="0">
              <a:buNone/>
            </a:pPr>
            <a:r>
              <a:rPr lang="en-US" sz="1100" b="1" dirty="0">
                <a:solidFill>
                  <a:srgbClr val="C9A84C"/>
                </a:solidFill>
                <a:latin typeface="Calibri" pitchFamily="34" charset="0"/>
                <a:ea typeface="Calibri" pitchFamily="34" charset="-122"/>
                <a:cs typeface="Calibri" pitchFamily="34" charset="-120"/>
              </a:rPr>
              <a:t>[ الصق رابط GitHub / GitLab هنا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ميزان - مُجمِّع عربي للأتمتة الصناعية</dc:title>
  <dc:subject>PptxGenJS Presentation</dc:subject>
  <dc:creator>PptxGenJS</dc:creator>
  <cp:lastModifiedBy>PptxGenJS</cp:lastModifiedBy>
  <cp:revision>1</cp:revision>
  <dcterms:created xsi:type="dcterms:W3CDTF">2026-06-25T06:46:55Z</dcterms:created>
  <dcterms:modified xsi:type="dcterms:W3CDTF">2026-06-25T06:46:55Z</dcterms:modified>
</cp:coreProperties>
</file>